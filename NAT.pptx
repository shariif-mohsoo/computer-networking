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1"/>
  </p:notesMasterIdLst>
  <p:handoutMasterIdLst>
    <p:handoutMasterId r:id="rId22"/>
  </p:handoutMasterIdLst>
  <p:sldIdLst>
    <p:sldId id="759" r:id="rId2"/>
    <p:sldId id="628" r:id="rId3"/>
    <p:sldId id="888" r:id="rId4"/>
    <p:sldId id="889" r:id="rId5"/>
    <p:sldId id="890" r:id="rId6"/>
    <p:sldId id="891" r:id="rId7"/>
    <p:sldId id="892" r:id="rId8"/>
    <p:sldId id="893" r:id="rId9"/>
    <p:sldId id="894" r:id="rId10"/>
    <p:sldId id="895" r:id="rId11"/>
    <p:sldId id="762" r:id="rId12"/>
    <p:sldId id="673" r:id="rId13"/>
    <p:sldId id="901" r:id="rId14"/>
    <p:sldId id="903" r:id="rId15"/>
    <p:sldId id="905" r:id="rId16"/>
    <p:sldId id="906" r:id="rId17"/>
    <p:sldId id="907" r:id="rId18"/>
    <p:sldId id="910" r:id="rId19"/>
    <p:sldId id="911" r:id="rId20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9E7E8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12" autoAdjust="0"/>
    <p:restoredTop sz="81000" autoAdjust="0"/>
  </p:normalViewPr>
  <p:slideViewPr>
    <p:cSldViewPr snapToGrid="0" showGuides="1">
      <p:cViewPr varScale="1">
        <p:scale>
          <a:sx n="98" d="100"/>
          <a:sy n="98" d="100"/>
        </p:scale>
        <p:origin x="858" y="90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73A34-5900-4DC9-ABE4-47E079505A1C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85362-6568-4AF9-B1D5-5F75C226C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2333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3666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50980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07055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31467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17982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54547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92084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68625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 smtClean="0"/>
              <a:t>9 – NAT for IPv4</a:t>
            </a:r>
          </a:p>
          <a:p>
            <a:pPr>
              <a:buFontTx/>
              <a:buNone/>
            </a:pPr>
            <a:r>
              <a:rPr lang="en-US" sz="1200" b="0" dirty="0" smtClean="0"/>
              <a:t>9.2 – Configure NAT</a:t>
            </a:r>
            <a:endParaRPr lang="en-GB" b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932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54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91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5493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45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2188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780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394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9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</a:t>
            </a:r>
            <a:r>
              <a:rPr lang="en-US" sz="600" dirty="0" smtClean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2016  </a:t>
            </a: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 smtClean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 smtClean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 smtClean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 smtClean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 smtClean="0">
                <a:sym typeface="Arial" pitchFamily="34" charset="0"/>
              </a:rPr>
              <a:t>Third level</a:t>
            </a:r>
          </a:p>
          <a:p>
            <a:pPr lvl="3"/>
            <a:r>
              <a:rPr lang="en-US" dirty="0" smtClean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 smtClean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</a:t>
            </a:r>
            <a:r>
              <a:rPr lang="en-US" sz="600" dirty="0" smtClean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2016  </a:t>
            </a: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571" y="856035"/>
            <a:ext cx="8375514" cy="1848256"/>
          </a:xfrm>
        </p:spPr>
        <p:txBody>
          <a:bodyPr/>
          <a:lstStyle/>
          <a:p>
            <a:r>
              <a:rPr lang="en-US" dirty="0" smtClean="0"/>
              <a:t>NAT </a:t>
            </a:r>
            <a:br>
              <a:rPr lang="en-US" dirty="0" smtClean="0"/>
            </a:br>
            <a:r>
              <a:rPr lang="en-US" sz="4400" dirty="0" smtClean="0"/>
              <a:t>(Network Address Translation)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6588" y="988181"/>
            <a:ext cx="8853286" cy="4155319"/>
          </a:xfrm>
        </p:spPr>
        <p:txBody>
          <a:bodyPr/>
          <a:lstStyle/>
          <a:p>
            <a:r>
              <a:rPr lang="en-US" altLang="ja-JP" dirty="0" smtClean="0"/>
              <a:t>Private IP addresses are used within an organization and home </a:t>
            </a:r>
            <a:br>
              <a:rPr lang="en-US" altLang="ja-JP" dirty="0" smtClean="0"/>
            </a:br>
            <a:r>
              <a:rPr lang="en-US" altLang="ja-JP" dirty="0" smtClean="0"/>
              <a:t>networks.</a:t>
            </a:r>
          </a:p>
          <a:p>
            <a:pPr marL="261937" lvl="2" indent="0">
              <a:buNone/>
            </a:pPr>
            <a:endParaRPr lang="en-US" altLang="ja-JP" dirty="0" smtClean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733" y="99759"/>
            <a:ext cx="9144000" cy="757551"/>
          </a:xfrm>
        </p:spPr>
        <p:txBody>
          <a:bodyPr/>
          <a:lstStyle/>
          <a:p>
            <a:r>
              <a:rPr lang="en-US" altLang="en-US" dirty="0" smtClean="0"/>
              <a:t>IPv4 </a:t>
            </a:r>
            <a:r>
              <a:rPr lang="en-US" altLang="en-US" dirty="0" smtClean="0"/>
              <a:t>Private Address Space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60" y="1890228"/>
            <a:ext cx="6581775" cy="1533525"/>
          </a:xfrm>
          <a:prstGeom prst="rect">
            <a:avLst/>
          </a:prstGeom>
        </p:spPr>
      </p:pic>
      <p:sp>
        <p:nvSpPr>
          <p:cNvPr id="7" name="Rectangle 34"/>
          <p:cNvSpPr txBox="1">
            <a:spLocks noChangeArrowheads="1"/>
          </p:cNvSpPr>
          <p:nvPr/>
        </p:nvSpPr>
        <p:spPr bwMode="auto">
          <a:xfrm>
            <a:off x="2216258" y="3911284"/>
            <a:ext cx="3926476" cy="459238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spcBef>
                <a:spcPct val="30000"/>
              </a:spcBef>
              <a:buNone/>
            </a:pPr>
            <a:r>
              <a:rPr lang="en-US" sz="1400" kern="0" dirty="0" smtClean="0">
                <a:solidFill>
                  <a:srgbClr val="000000"/>
                </a:solidFill>
              </a:rPr>
              <a:t>These are the IP addresses you will see assigned to company devices.</a:t>
            </a:r>
            <a:endParaRPr lang="en-US" sz="1400" kern="0" dirty="0">
              <a:solidFill>
                <a:srgbClr val="000000"/>
              </a:solidFill>
            </a:endParaRPr>
          </a:p>
          <a:p>
            <a:pPr marL="89297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6316" y="822191"/>
            <a:ext cx="8853286" cy="4155319"/>
          </a:xfrm>
        </p:spPr>
        <p:txBody>
          <a:bodyPr/>
          <a:lstStyle/>
          <a:p>
            <a:r>
              <a:rPr lang="en-US" altLang="ja-JP" dirty="0" smtClean="0"/>
              <a:t>Private IP addresses cannot be routed over the Internet.</a:t>
            </a:r>
          </a:p>
          <a:p>
            <a:r>
              <a:rPr lang="en-US" altLang="ja-JP" dirty="0" smtClean="0"/>
              <a:t>NAT is used to translate private IP addresses to public addresses that can be routed over the Internet.</a:t>
            </a:r>
          </a:p>
          <a:p>
            <a:r>
              <a:rPr lang="en-US" altLang="ja-JP" dirty="0" smtClean="0"/>
              <a:t>One public IPv4 address can be used for thousands of devices that have private IP addresses.</a:t>
            </a:r>
          </a:p>
          <a:p>
            <a:pPr marL="261937" lvl="2" indent="0">
              <a:buNone/>
            </a:pPr>
            <a:endParaRPr lang="en-US" altLang="ja-JP" dirty="0" smtClean="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IPv4 </a:t>
            </a:r>
            <a:r>
              <a:rPr lang="en-US" altLang="en-US" dirty="0" smtClean="0"/>
              <a:t>Private Address Space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42" y="2326613"/>
            <a:ext cx="5616844" cy="225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750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6317" y="822191"/>
            <a:ext cx="5187352" cy="4155319"/>
          </a:xfrm>
        </p:spPr>
        <p:txBody>
          <a:bodyPr/>
          <a:lstStyle/>
          <a:p>
            <a:r>
              <a:rPr lang="en-US" altLang="ja-JP" dirty="0" smtClean="0"/>
              <a:t>Private IP addresses cannot be routed over the Internet.</a:t>
            </a:r>
          </a:p>
          <a:p>
            <a:r>
              <a:rPr lang="en-US" altLang="ja-JP" dirty="0" smtClean="0"/>
              <a:t>NAT is used to translate private IP addresses used inside a company to public addresses that can be routed over the Internet.</a:t>
            </a:r>
          </a:p>
          <a:p>
            <a:r>
              <a:rPr lang="en-US" altLang="ja-JP" dirty="0" smtClean="0"/>
              <a:t>NAT hides internal IPv4 addresses from outside networks.</a:t>
            </a:r>
          </a:p>
          <a:p>
            <a:pPr lvl="1"/>
            <a:r>
              <a:rPr lang="en-US" altLang="ja-JP" dirty="0" smtClean="0"/>
              <a:t>Companies use the same private IPv4 addresses so outside devices cannot tell one company’s 10.x.x.x network from another company’s 10.x.x.x network.</a:t>
            </a:r>
          </a:p>
          <a:p>
            <a:r>
              <a:rPr lang="en-US" altLang="ja-JP" dirty="0" smtClean="0"/>
              <a:t>A NAT-enabled router can be configured with a public IPv4 address.</a:t>
            </a:r>
          </a:p>
          <a:p>
            <a:r>
              <a:rPr lang="en-US" altLang="ja-JP" dirty="0" smtClean="0"/>
              <a:t>A NAT-enabled router can be configured with multiple public IPv4 addresses to be used in a pool or NAT pool for internal devices configured with private addresses.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What </a:t>
            </a:r>
            <a:r>
              <a:rPr lang="en-US" altLang="en-US" dirty="0" smtClean="0"/>
              <a:t>is NAT?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800" y="1449090"/>
            <a:ext cx="4011716" cy="2671519"/>
          </a:xfrm>
          <a:prstGeom prst="rect">
            <a:avLst/>
          </a:prstGeom>
        </p:spPr>
      </p:pic>
      <p:sp>
        <p:nvSpPr>
          <p:cNvPr id="5" name="Horizontal Scroll 4"/>
          <p:cNvSpPr/>
          <p:nvPr/>
        </p:nvSpPr>
        <p:spPr>
          <a:xfrm>
            <a:off x="5215179" y="69743"/>
            <a:ext cx="3859077" cy="1208868"/>
          </a:xfrm>
          <a:prstGeom prst="horizontalScroll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Important </a:t>
            </a:r>
            <a:r>
              <a:rPr lang="en-US" sz="1400" dirty="0" smtClean="0">
                <a:solidFill>
                  <a:schemeClr val="bg1"/>
                </a:solidFill>
              </a:rPr>
              <a:t>Concept—NAT is </a:t>
            </a:r>
            <a:r>
              <a:rPr lang="en-US" sz="1400" dirty="0">
                <a:solidFill>
                  <a:schemeClr val="bg1"/>
                </a:solidFill>
              </a:rPr>
              <a:t>enabled on one </a:t>
            </a:r>
            <a:r>
              <a:rPr lang="en-US" sz="1400" dirty="0" smtClean="0">
                <a:solidFill>
                  <a:schemeClr val="bg1"/>
                </a:solidFill>
              </a:rPr>
              <a:t>device (normally </a:t>
            </a:r>
            <a:r>
              <a:rPr lang="en-US" sz="1400" dirty="0">
                <a:solidFill>
                  <a:schemeClr val="bg1"/>
                </a:solidFill>
              </a:rPr>
              <a:t>the border </a:t>
            </a:r>
            <a:r>
              <a:rPr lang="en-US" sz="1400" dirty="0" smtClean="0">
                <a:solidFill>
                  <a:schemeClr val="bg1"/>
                </a:solidFill>
              </a:rPr>
              <a:t>or edge router)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Lightning Bolt 5"/>
          <p:cNvSpPr/>
          <p:nvPr/>
        </p:nvSpPr>
        <p:spPr>
          <a:xfrm rot="4566296">
            <a:off x="7567836" y="456358"/>
            <a:ext cx="854111" cy="2419133"/>
          </a:xfrm>
          <a:prstGeom prst="lightningBolt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82977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36317" y="822191"/>
            <a:ext cx="4319446" cy="4155319"/>
          </a:xfrm>
        </p:spPr>
        <p:txBody>
          <a:bodyPr/>
          <a:lstStyle/>
          <a:p>
            <a:r>
              <a:rPr lang="en-US" altLang="ja-JP" dirty="0" smtClean="0"/>
              <a:t>Four types of addresses: inside, outside, local, and global</a:t>
            </a:r>
          </a:p>
          <a:p>
            <a:pPr lvl="1"/>
            <a:r>
              <a:rPr lang="en-US" altLang="ja-JP" dirty="0" smtClean="0"/>
              <a:t>Always consider the device that is having its private address translated to understand this concept.</a:t>
            </a:r>
          </a:p>
          <a:p>
            <a:pPr lvl="1"/>
            <a:r>
              <a:rPr lang="en-US" altLang="ja-JP" dirty="0" smtClean="0"/>
              <a:t>Inside address – address of the company network device that is being translated by NAT</a:t>
            </a:r>
          </a:p>
          <a:p>
            <a:pPr lvl="1"/>
            <a:r>
              <a:rPr lang="en-US" altLang="ja-JP" dirty="0" smtClean="0"/>
              <a:t>Outside address – IP address of the destination device</a:t>
            </a:r>
          </a:p>
          <a:p>
            <a:pPr lvl="1"/>
            <a:r>
              <a:rPr lang="en-US" altLang="ja-JP" dirty="0" smtClean="0"/>
              <a:t>Local address – any address that appears on the inside portion of the network</a:t>
            </a:r>
          </a:p>
          <a:p>
            <a:pPr lvl="1"/>
            <a:r>
              <a:rPr lang="en-US" altLang="ja-JP" dirty="0" smtClean="0"/>
              <a:t>Global address – any address that appears on the outside portion of the network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NAT </a:t>
            </a:r>
            <a:r>
              <a:rPr lang="en-US" altLang="en-US" dirty="0" smtClean="0"/>
              <a:t>Terminology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007" y="1223416"/>
            <a:ext cx="4216346" cy="272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30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NAT </a:t>
            </a:r>
            <a:r>
              <a:rPr lang="en-US" altLang="en-US" dirty="0" smtClean="0"/>
              <a:t>Terminology</a:t>
            </a:r>
            <a:endParaRPr lang="en-US" alt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566" y="859982"/>
            <a:ext cx="5508486" cy="384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265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454718"/>
          </a:xfrm>
        </p:spPr>
        <p:txBody>
          <a:bodyPr/>
          <a:lstStyle/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How NAT Works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40" y="867905"/>
            <a:ext cx="2706864" cy="116479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t="902"/>
          <a:stretch/>
        </p:blipFill>
        <p:spPr>
          <a:xfrm>
            <a:off x="2758698" y="1504949"/>
            <a:ext cx="3400101" cy="18215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530" y="2843938"/>
            <a:ext cx="2988737" cy="1722963"/>
          </a:xfrm>
          <a:prstGeom prst="rect">
            <a:avLst/>
          </a:prstGeom>
        </p:spPr>
      </p:pic>
      <p:sp>
        <p:nvSpPr>
          <p:cNvPr id="7" name="Rectangle 34"/>
          <p:cNvSpPr txBox="1">
            <a:spLocks noChangeArrowheads="1"/>
          </p:cNvSpPr>
          <p:nvPr/>
        </p:nvSpPr>
        <p:spPr bwMode="auto">
          <a:xfrm>
            <a:off x="3672840" y="625644"/>
            <a:ext cx="4450080" cy="578316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ct val="30000"/>
              </a:spcBef>
              <a:buNone/>
            </a:pPr>
            <a:r>
              <a:rPr lang="en-US" sz="1400" kern="0" dirty="0" smtClean="0">
                <a:solidFill>
                  <a:srgbClr val="000000"/>
                </a:solidFill>
              </a:rPr>
              <a:t>1. The private (internal) IP address gets translated to a public IP address used to reach the external server.</a:t>
            </a: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5943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8832714" cy="649271"/>
          </a:xfrm>
        </p:spPr>
        <p:txBody>
          <a:bodyPr/>
          <a:lstStyle/>
          <a:p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How </a:t>
            </a:r>
            <a:r>
              <a:rPr lang="en-US" altLang="en-US" dirty="0" err="1" smtClean="0"/>
              <a:t>NATWorks</a:t>
            </a:r>
            <a:endParaRPr lang="en-US" alt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" y="808957"/>
            <a:ext cx="4268011" cy="24534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775" y="2163827"/>
            <a:ext cx="4129491" cy="2440622"/>
          </a:xfrm>
          <a:prstGeom prst="rect">
            <a:avLst/>
          </a:prstGeom>
        </p:spPr>
      </p:pic>
      <p:sp>
        <p:nvSpPr>
          <p:cNvPr id="8" name="Rectangle 34"/>
          <p:cNvSpPr txBox="1">
            <a:spLocks noChangeArrowheads="1"/>
          </p:cNvSpPr>
          <p:nvPr/>
        </p:nvSpPr>
        <p:spPr bwMode="auto">
          <a:xfrm>
            <a:off x="4424766" y="757379"/>
            <a:ext cx="4429674" cy="766621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ct val="30000"/>
              </a:spcBef>
              <a:buNone/>
            </a:pPr>
            <a:r>
              <a:rPr lang="en-US" sz="1400" kern="0" dirty="0" smtClean="0">
                <a:solidFill>
                  <a:srgbClr val="000000"/>
                </a:solidFill>
              </a:rPr>
              <a:t>2. The translated public address is used by the server to send the requested information to the device that actually has a private IP address assigned to it. </a:t>
            </a:r>
            <a:endParaRPr lang="en-US" sz="14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</p:txBody>
      </p:sp>
      <p:sp>
        <p:nvSpPr>
          <p:cNvPr id="9" name="Rectangle 34"/>
          <p:cNvSpPr txBox="1">
            <a:spLocks noChangeArrowheads="1"/>
          </p:cNvSpPr>
          <p:nvPr/>
        </p:nvSpPr>
        <p:spPr bwMode="auto">
          <a:xfrm>
            <a:off x="167640" y="3893850"/>
            <a:ext cx="4097217" cy="710599"/>
          </a:xfrm>
          <a:prstGeom prst="rect">
            <a:avLst/>
          </a:prstGeo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61593" tIns="30796" rIns="61593" bIns="30796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ct val="30000"/>
              </a:spcBef>
              <a:buNone/>
            </a:pPr>
            <a:r>
              <a:rPr lang="en-US" sz="1400" kern="0" dirty="0" smtClean="0">
                <a:solidFill>
                  <a:srgbClr val="000000"/>
                </a:solidFill>
              </a:rPr>
              <a:t>3. The NAT-enabled router consults the routing table to see what private address requested the data.</a:t>
            </a:r>
            <a:endParaRPr lang="en-US" sz="14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  <a:p>
            <a:pPr marL="0" indent="0" algn="ctr" eaLnBrk="1" hangingPunct="1">
              <a:spcBef>
                <a:spcPct val="30000"/>
              </a:spcBef>
              <a:buNone/>
            </a:pPr>
            <a:endParaRPr lang="en-US" sz="15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4728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Types of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Static NAT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4155319"/>
          </a:xfrm>
        </p:spPr>
        <p:txBody>
          <a:bodyPr/>
          <a:lstStyle/>
          <a:p>
            <a:r>
              <a:rPr lang="en-US" altLang="en-US" dirty="0" smtClean="0"/>
              <a:t>Static address translation (static NAT) assigns one public IP address to one private IP address</a:t>
            </a:r>
          </a:p>
          <a:p>
            <a:r>
              <a:rPr lang="en-US" altLang="en-US" dirty="0" smtClean="0"/>
              <a:t>Commonly used for servers that need to be accessed by external devices or for devices that must be accessible by authorized personnel when offsite</a:t>
            </a:r>
          </a:p>
          <a:p>
            <a:r>
              <a:rPr lang="en-US" altLang="en-US" dirty="0"/>
              <a:t>O</a:t>
            </a:r>
            <a:r>
              <a:rPr lang="en-US" altLang="en-US" dirty="0" smtClean="0"/>
              <a:t>ne-to-one address mapping between local and global addresses</a:t>
            </a:r>
            <a:endParaRPr lang="en-US" altLang="en-US" dirty="0"/>
          </a:p>
          <a:p>
            <a:pPr marL="0" indent="0">
              <a:buNone/>
            </a:pPr>
            <a:endParaRPr lang="en-CA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45" y="2109481"/>
            <a:ext cx="3986030" cy="265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9964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Types of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Dynamic NAT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44065" y="798944"/>
            <a:ext cx="4288450" cy="4155319"/>
          </a:xfrm>
        </p:spPr>
        <p:txBody>
          <a:bodyPr/>
          <a:lstStyle/>
          <a:p>
            <a:r>
              <a:rPr lang="en-US" altLang="en-US" dirty="0" smtClean="0"/>
              <a:t>Dynamic NAT assigns a public IP address from a pool of addresses to each packet that originates from a device that has a private IP address assigned when that packet is destined to a network outside the company.</a:t>
            </a:r>
          </a:p>
          <a:p>
            <a:pPr lvl="1"/>
            <a:r>
              <a:rPr lang="en-US" altLang="en-US" dirty="0" smtClean="0"/>
              <a:t>Addresses are assigned on a first-come, first serve basis</a:t>
            </a:r>
          </a:p>
          <a:p>
            <a:pPr lvl="1"/>
            <a:r>
              <a:rPr lang="en-US" altLang="en-US" dirty="0" smtClean="0"/>
              <a:t>The number of internal devices that can transmit outside the company is limited to the number of public IP addresses in the pool.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771" y="484054"/>
            <a:ext cx="4656297" cy="342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0839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sz="4000" dirty="0" smtClean="0"/>
              <a:t>Configure </a:t>
            </a:r>
            <a:r>
              <a:rPr lang="en-US" sz="4000" dirty="0" smtClean="0"/>
              <a:t>NAT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519054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Configuring Static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Configure Static NAT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69960"/>
            <a:ext cx="4714390" cy="19428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323" y="2154146"/>
            <a:ext cx="5662773" cy="260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7713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Configuring Static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Configure Static NAT (Cont.)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14" y="1201119"/>
            <a:ext cx="4988055" cy="3454184"/>
          </a:xfrm>
          <a:prstGeom prst="rect">
            <a:avLst/>
          </a:prstGeom>
        </p:spPr>
      </p:pic>
      <p:sp>
        <p:nvSpPr>
          <p:cNvPr id="6" name="Striped Right Arrow 5"/>
          <p:cNvSpPr/>
          <p:nvPr/>
        </p:nvSpPr>
        <p:spPr>
          <a:xfrm rot="19023597" flipH="1">
            <a:off x="5949189" y="573957"/>
            <a:ext cx="1762153" cy="604433"/>
          </a:xfrm>
          <a:prstGeom prst="stripedRight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Outside interface</a:t>
            </a:r>
          </a:p>
        </p:txBody>
      </p:sp>
      <p:sp>
        <p:nvSpPr>
          <p:cNvPr id="5" name="Striped Right Arrow 4"/>
          <p:cNvSpPr/>
          <p:nvPr/>
        </p:nvSpPr>
        <p:spPr>
          <a:xfrm rot="2607406">
            <a:off x="4329687" y="580610"/>
            <a:ext cx="1764792" cy="603504"/>
          </a:xfrm>
          <a:prstGeom prst="stripedRightArrow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Inside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720" y="2162013"/>
            <a:ext cx="2650210" cy="1600438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</a:rPr>
              <a:t>Remember that any interface on the border router that is on the inside network must be configured with the </a:t>
            </a:r>
            <a:r>
              <a:rPr lang="en-US" sz="1400" b="1" dirty="0" err="1" smtClean="0">
                <a:solidFill>
                  <a:srgbClr val="000000"/>
                </a:solidFill>
              </a:rPr>
              <a:t>ip</a:t>
            </a:r>
            <a:r>
              <a:rPr lang="en-US" sz="1400" b="1" dirty="0" smtClean="0">
                <a:solidFill>
                  <a:srgbClr val="000000"/>
                </a:solidFill>
              </a:rPr>
              <a:t> </a:t>
            </a:r>
            <a:r>
              <a:rPr lang="en-US" sz="1400" b="1" dirty="0" err="1" smtClean="0">
                <a:solidFill>
                  <a:srgbClr val="000000"/>
                </a:solidFill>
              </a:rPr>
              <a:t>nat</a:t>
            </a:r>
            <a:r>
              <a:rPr lang="en-US" sz="1400" b="1" dirty="0" smtClean="0">
                <a:solidFill>
                  <a:srgbClr val="000000"/>
                </a:solidFill>
              </a:rPr>
              <a:t> inside </a:t>
            </a:r>
            <a:r>
              <a:rPr lang="en-US" sz="1400" dirty="0" smtClean="0">
                <a:solidFill>
                  <a:srgbClr val="000000"/>
                </a:solidFill>
              </a:rPr>
              <a:t>command. This is a common mistake for those new to NAT.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625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Configuring Static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Verifying Static NAT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735" b="8423"/>
          <a:stretch/>
        </p:blipFill>
        <p:spPr>
          <a:xfrm>
            <a:off x="108489" y="1199391"/>
            <a:ext cx="4575873" cy="8618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617"/>
          <a:stretch/>
        </p:blipFill>
        <p:spPr>
          <a:xfrm>
            <a:off x="101882" y="2194987"/>
            <a:ext cx="4594103" cy="9456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1063" r="4659"/>
          <a:stretch/>
        </p:blipFill>
        <p:spPr>
          <a:xfrm>
            <a:off x="4812224" y="1204175"/>
            <a:ext cx="4331776" cy="3480830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5230678" y="77493"/>
            <a:ext cx="3301139" cy="1022888"/>
          </a:xfrm>
          <a:prstGeom prst="wedgeEllipseCallout">
            <a:avLst>
              <a:gd name="adj1" fmla="val -13589"/>
              <a:gd name="adj2" fmla="val 63847"/>
            </a:avLst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A best practice is to clear statistics when verifying that NAT is working.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893" y="3525864"/>
            <a:ext cx="2650210" cy="738664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0000"/>
                </a:solidFill>
              </a:rPr>
              <a:t>Important commands: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s</a:t>
            </a:r>
            <a:r>
              <a:rPr lang="en-US" sz="1400" b="1" dirty="0" smtClean="0">
                <a:solidFill>
                  <a:srgbClr val="000000"/>
                </a:solidFill>
              </a:rPr>
              <a:t>how </a:t>
            </a:r>
            <a:r>
              <a:rPr lang="en-US" sz="1400" b="1" dirty="0" err="1" smtClean="0">
                <a:solidFill>
                  <a:srgbClr val="000000"/>
                </a:solidFill>
              </a:rPr>
              <a:t>ip</a:t>
            </a:r>
            <a:r>
              <a:rPr lang="en-US" sz="1400" b="1" dirty="0" smtClean="0">
                <a:solidFill>
                  <a:srgbClr val="000000"/>
                </a:solidFill>
              </a:rPr>
              <a:t> </a:t>
            </a:r>
            <a:r>
              <a:rPr lang="en-US" sz="1400" b="1" dirty="0" err="1" smtClean="0">
                <a:solidFill>
                  <a:srgbClr val="000000"/>
                </a:solidFill>
              </a:rPr>
              <a:t>nat</a:t>
            </a:r>
            <a:r>
              <a:rPr lang="en-US" sz="1400" b="1" dirty="0" smtClean="0">
                <a:solidFill>
                  <a:srgbClr val="000000"/>
                </a:solidFill>
              </a:rPr>
              <a:t> translations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s</a:t>
            </a:r>
            <a:r>
              <a:rPr lang="en-US" sz="1400" b="1" dirty="0" smtClean="0">
                <a:solidFill>
                  <a:srgbClr val="000000"/>
                </a:solidFill>
              </a:rPr>
              <a:t>how </a:t>
            </a:r>
            <a:r>
              <a:rPr lang="en-US" sz="1400" b="1" dirty="0" err="1" smtClean="0">
                <a:solidFill>
                  <a:srgbClr val="000000"/>
                </a:solidFill>
              </a:rPr>
              <a:t>ip</a:t>
            </a:r>
            <a:r>
              <a:rPr lang="en-US" sz="1400" b="1" dirty="0" smtClean="0">
                <a:solidFill>
                  <a:srgbClr val="000000"/>
                </a:solidFill>
              </a:rPr>
              <a:t> </a:t>
            </a:r>
            <a:r>
              <a:rPr lang="en-US" sz="1400" b="1" dirty="0" err="1" smtClean="0">
                <a:solidFill>
                  <a:srgbClr val="000000"/>
                </a:solidFill>
              </a:rPr>
              <a:t>nat</a:t>
            </a:r>
            <a:r>
              <a:rPr lang="en-US" sz="1400" b="1" dirty="0" smtClean="0">
                <a:solidFill>
                  <a:srgbClr val="000000"/>
                </a:solidFill>
              </a:rPr>
              <a:t> statistics</a:t>
            </a:r>
            <a:endParaRPr lang="en-US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6050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Configure Dynamic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Dynamic NAT Operation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3292" y="844658"/>
            <a:ext cx="8294762" cy="3652405"/>
          </a:xfrm>
        </p:spPr>
        <p:txBody>
          <a:bodyPr/>
          <a:lstStyle/>
          <a:p>
            <a:r>
              <a:rPr lang="en-US" altLang="en-US" sz="1400" dirty="0" smtClean="0"/>
              <a:t>Remember that dynamic NAT uses a pool of public IPv4 addresses.</a:t>
            </a:r>
          </a:p>
          <a:p>
            <a:r>
              <a:rPr lang="en-US" altLang="en-US" sz="1400" dirty="0" smtClean="0"/>
              <a:t>Use the same concepts of inside and outside NAT interfaces as static NAT.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194" y="1728061"/>
            <a:ext cx="4759184" cy="284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068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Configure Dynamic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Configuring Dynamic NAT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89" y="1128426"/>
            <a:ext cx="7163769" cy="278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326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Configure Dynamic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Configuring Dynamic </a:t>
            </a:r>
            <a:r>
              <a:rPr lang="en-US" altLang="en-US" dirty="0" smtClean="0"/>
              <a:t>NAT</a:t>
            </a:r>
            <a:endParaRPr lang="en-US" altLang="en-US" dirty="0" smtClean="0"/>
          </a:p>
        </p:txBody>
      </p:sp>
      <p:grpSp>
        <p:nvGrpSpPr>
          <p:cNvPr id="7" name="Group 6"/>
          <p:cNvGrpSpPr/>
          <p:nvPr/>
        </p:nvGrpSpPr>
        <p:grpSpPr>
          <a:xfrm>
            <a:off x="1720312" y="844658"/>
            <a:ext cx="5139590" cy="3927421"/>
            <a:chOff x="1658319" y="841252"/>
            <a:chExt cx="5294573" cy="3985071"/>
          </a:xfrm>
        </p:grpSpPr>
        <p:grpSp>
          <p:nvGrpSpPr>
            <p:cNvPr id="4" name="Group 3"/>
            <p:cNvGrpSpPr/>
            <p:nvPr/>
          </p:nvGrpSpPr>
          <p:grpSpPr>
            <a:xfrm>
              <a:off x="1658319" y="841252"/>
              <a:ext cx="5294573" cy="3983804"/>
              <a:chOff x="1658319" y="841252"/>
              <a:chExt cx="5294573" cy="3983804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8319" y="841252"/>
                <a:ext cx="5294573" cy="3519584"/>
              </a:xfrm>
              <a:prstGeom prst="rect">
                <a:avLst/>
              </a:prstGeom>
            </p:spPr>
          </p:pic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6069" y="4339270"/>
                <a:ext cx="5193707" cy="485786"/>
              </a:xfrm>
              <a:prstGeom prst="rect">
                <a:avLst/>
              </a:prstGeom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6814572" y="4345875"/>
              <a:ext cx="116238" cy="48044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0490657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Configure Dynamic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Verifying Dynamic NAT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582" y="866027"/>
            <a:ext cx="6137006" cy="2559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63498" b="85836"/>
          <a:stretch/>
        </p:blipFill>
        <p:spPr>
          <a:xfrm>
            <a:off x="4560214" y="200592"/>
            <a:ext cx="3080450" cy="5355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t="46405"/>
          <a:stretch/>
        </p:blipFill>
        <p:spPr>
          <a:xfrm>
            <a:off x="2255003" y="3511526"/>
            <a:ext cx="5046149" cy="121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359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 smtClean="0"/>
              <a:t>Configure Dynamic NAT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Verifying Dynamic </a:t>
            </a:r>
            <a:r>
              <a:rPr lang="en-US" altLang="en-US" dirty="0" smtClean="0"/>
              <a:t>NAT</a:t>
            </a:r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682" y="860156"/>
            <a:ext cx="4365601" cy="383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909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7712</TotalTime>
  <Words>608</Words>
  <Application>Microsoft Office PowerPoint</Application>
  <PresentationFormat>On-screen Show (16:9)</PresentationFormat>
  <Paragraphs>59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Wingdings</vt:lpstr>
      <vt:lpstr>Default Theme</vt:lpstr>
      <vt:lpstr>NAT  (Network Address Translation)</vt:lpstr>
      <vt:lpstr>IPv4 Private Address Space</vt:lpstr>
      <vt:lpstr>IPv4 Private Address Space </vt:lpstr>
      <vt:lpstr>What is NAT?</vt:lpstr>
      <vt:lpstr>NAT Terminology</vt:lpstr>
      <vt:lpstr> NAT Terminology</vt:lpstr>
      <vt:lpstr> How NAT Works</vt:lpstr>
      <vt:lpstr> How NATWorks</vt:lpstr>
      <vt:lpstr>Types of NAT Static NAT</vt:lpstr>
      <vt:lpstr>Types of NAT Dynamic NAT</vt:lpstr>
      <vt:lpstr>Configure NAT</vt:lpstr>
      <vt:lpstr>Configuring Static NAT Configure Static NAT</vt:lpstr>
      <vt:lpstr>Configuring Static NAT Configure Static NAT (Cont.)</vt:lpstr>
      <vt:lpstr>Configuring Static NAT Verifying Static NAT</vt:lpstr>
      <vt:lpstr>Configure Dynamic NAT Dynamic NAT Operation</vt:lpstr>
      <vt:lpstr>Configure Dynamic NAT Configuring Dynamic NAT</vt:lpstr>
      <vt:lpstr>Configure Dynamic NAT Configuring Dynamic NAT</vt:lpstr>
      <vt:lpstr>Configure Dynamic NAT Verifying Dynamic NAT</vt:lpstr>
      <vt:lpstr>Configure Dynamic NAT Verifying Dynamic NAT</vt:lpstr>
    </vt:vector>
  </TitlesOfParts>
  <Company>Cisco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Windows User</cp:lastModifiedBy>
  <cp:revision>433</cp:revision>
  <dcterms:created xsi:type="dcterms:W3CDTF">2016-08-22T22:27:36Z</dcterms:created>
  <dcterms:modified xsi:type="dcterms:W3CDTF">2024-05-08T06:51:09Z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</Properties>
</file>