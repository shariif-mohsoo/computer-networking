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 id="2147484532" r:id="rId2"/>
  </p:sldMasterIdLst>
  <p:notesMasterIdLst>
    <p:notesMasterId r:id="rId23"/>
  </p:notesMasterIdLst>
  <p:handoutMasterIdLst>
    <p:handoutMasterId r:id="rId24"/>
  </p:handoutMasterIdLst>
  <p:sldIdLst>
    <p:sldId id="905" r:id="rId3"/>
    <p:sldId id="825" r:id="rId4"/>
    <p:sldId id="829" r:id="rId5"/>
    <p:sldId id="830" r:id="rId6"/>
    <p:sldId id="837" r:id="rId7"/>
    <p:sldId id="839" r:id="rId8"/>
    <p:sldId id="842" r:id="rId9"/>
    <p:sldId id="845" r:id="rId10"/>
    <p:sldId id="847" r:id="rId11"/>
    <p:sldId id="848" r:id="rId12"/>
    <p:sldId id="850" r:id="rId13"/>
    <p:sldId id="851" r:id="rId14"/>
    <p:sldId id="852" r:id="rId15"/>
    <p:sldId id="853" r:id="rId16"/>
    <p:sldId id="854" r:id="rId17"/>
    <p:sldId id="904" r:id="rId18"/>
    <p:sldId id="858" r:id="rId19"/>
    <p:sldId id="859" r:id="rId20"/>
    <p:sldId id="861" r:id="rId21"/>
    <p:sldId id="863" r:id="rId22"/>
  </p:sldIdLst>
  <p:sldSz cx="9144000" cy="6858000" type="screen4x3"/>
  <p:notesSz cx="7010400" cy="9296400"/>
  <p:defaultTextStyle>
    <a:defPPr>
      <a:defRPr lang="en-US"/>
    </a:defPPr>
    <a:lvl1pPr algn="ctr" rtl="0" eaLnBrk="0" fontAlgn="base" hangingPunct="0">
      <a:lnSpc>
        <a:spcPct val="90000"/>
      </a:lnSpc>
      <a:spcBef>
        <a:spcPct val="0"/>
      </a:spcBef>
      <a:spcAft>
        <a:spcPct val="0"/>
      </a:spcAft>
      <a:defRPr sz="2400" kern="1200">
        <a:solidFill>
          <a:schemeClr val="tx1"/>
        </a:solidFill>
        <a:latin typeface="Arial" charset="0"/>
        <a:ea typeface="+mn-ea"/>
        <a:cs typeface="+mn-cs"/>
      </a:defRPr>
    </a:lvl1pPr>
    <a:lvl2pPr marL="4572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2pPr>
    <a:lvl3pPr marL="9144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3pPr>
    <a:lvl4pPr marL="13716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4pPr>
    <a:lvl5pPr marL="18288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4"/>
    <a:srgbClr val="678DC5"/>
    <a:srgbClr val="3E67A4"/>
    <a:srgbClr val="3E8DC5"/>
    <a:srgbClr val="5F5F65"/>
    <a:srgbClr val="7E7E86"/>
    <a:srgbClr val="FFFFFF"/>
    <a:srgbClr val="8E8E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76" autoAdjust="0"/>
    <p:restoredTop sz="84470" autoAdjust="0"/>
  </p:normalViewPr>
  <p:slideViewPr>
    <p:cSldViewPr snapToGrid="0">
      <p:cViewPr varScale="1">
        <p:scale>
          <a:sx n="78" d="100"/>
          <a:sy n="78" d="100"/>
        </p:scale>
        <p:origin x="1620" y="60"/>
      </p:cViewPr>
      <p:guideLst>
        <p:guide orient="horz" pos="2160"/>
        <p:guide pos="2880"/>
      </p:guideLst>
    </p:cSldViewPr>
  </p:slideViewPr>
  <p:outlineViewPr>
    <p:cViewPr>
      <p:scale>
        <a:sx n="33" d="100"/>
        <a:sy n="33" d="100"/>
      </p:scale>
      <p:origin x="0" y="5022"/>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Lst>
  </p:outlineViewPr>
  <p:notesTextViewPr>
    <p:cViewPr>
      <p:scale>
        <a:sx n="100" d="100"/>
        <a:sy n="100" d="100"/>
      </p:scale>
      <p:origin x="0" y="0"/>
    </p:cViewPr>
  </p:notesTextViewPr>
  <p:sorterViewPr>
    <p:cViewPr>
      <p:scale>
        <a:sx n="100" d="100"/>
        <a:sy n="100" d="100"/>
      </p:scale>
      <p:origin x="0" y="7596"/>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4.xml"/><Relationship Id="rId18" Type="http://schemas.openxmlformats.org/officeDocument/2006/relationships/slide" Target="slides/slide19.xml"/><Relationship Id="rId3" Type="http://schemas.openxmlformats.org/officeDocument/2006/relationships/slide" Target="slides/slide4.xml"/><Relationship Id="rId7" Type="http://schemas.openxmlformats.org/officeDocument/2006/relationships/slide" Target="slides/slide8.xml"/><Relationship Id="rId12" Type="http://schemas.openxmlformats.org/officeDocument/2006/relationships/slide" Target="slides/slide13.xml"/><Relationship Id="rId17" Type="http://schemas.openxmlformats.org/officeDocument/2006/relationships/slide" Target="slides/slide18.xml"/><Relationship Id="rId2" Type="http://schemas.openxmlformats.org/officeDocument/2006/relationships/slide" Target="slides/slide3.xml"/><Relationship Id="rId16" Type="http://schemas.openxmlformats.org/officeDocument/2006/relationships/slide" Target="slides/slide17.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5" Type="http://schemas.openxmlformats.org/officeDocument/2006/relationships/slide" Target="slides/slide6.xml"/><Relationship Id="rId15" Type="http://schemas.openxmlformats.org/officeDocument/2006/relationships/slide" Target="slides/slide16.xml"/><Relationship Id="rId10" Type="http://schemas.openxmlformats.org/officeDocument/2006/relationships/slide" Target="slides/slide11.xml"/><Relationship Id="rId19" Type="http://schemas.openxmlformats.org/officeDocument/2006/relationships/slide" Target="slides/slide20.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11"/>
          <p:cNvSpPr>
            <a:spLocks noChangeArrowheads="1"/>
          </p:cNvSpPr>
          <p:nvPr/>
        </p:nvSpPr>
        <p:spPr bwMode="auto">
          <a:xfrm>
            <a:off x="6249988" y="8609013"/>
            <a:ext cx="449262" cy="212725"/>
          </a:xfrm>
          <a:prstGeom prst="rect">
            <a:avLst/>
          </a:prstGeom>
          <a:noFill/>
          <a:ln w="9525">
            <a:noFill/>
            <a:miter lim="800000"/>
            <a:headEnd/>
            <a:tailEnd/>
          </a:ln>
        </p:spPr>
        <p:txBody>
          <a:bodyPr wrap="none" anchor="ctr"/>
          <a:lstStyle/>
          <a:p>
            <a:pPr>
              <a:defRPr/>
            </a:pPr>
            <a:endParaRPr lang="en-US" dirty="0"/>
          </a:p>
        </p:txBody>
      </p:sp>
      <p:sp>
        <p:nvSpPr>
          <p:cNvPr id="97283" name="Rectangle 12"/>
          <p:cNvSpPr>
            <a:spLocks noChangeArrowheads="1"/>
          </p:cNvSpPr>
          <p:nvPr/>
        </p:nvSpPr>
        <p:spPr bwMode="auto">
          <a:xfrm>
            <a:off x="57150" y="8785225"/>
            <a:ext cx="2619375" cy="347663"/>
          </a:xfrm>
          <a:prstGeom prst="rect">
            <a:avLst/>
          </a:prstGeom>
          <a:noFill/>
          <a:ln w="9525">
            <a:noFill/>
            <a:miter lim="800000"/>
            <a:headEnd/>
            <a:tailEnd/>
          </a:ln>
        </p:spPr>
        <p:txBody>
          <a:bodyPr lIns="95667" tIns="50185" rIns="95667" bIns="50185">
            <a:spAutoFit/>
          </a:bodyPr>
          <a:lstStyle/>
          <a:p>
            <a:pPr algn="l" defTabSz="611188">
              <a:lnSpc>
                <a:spcPct val="100000"/>
              </a:lnSpc>
              <a:tabLst>
                <a:tab pos="2387600" algn="l"/>
                <a:tab pos="4830763" algn="l"/>
              </a:tabLst>
              <a:defRPr/>
            </a:pPr>
            <a:r>
              <a:rPr lang="en-US" sz="800" dirty="0"/>
              <a:t>© 2006, Cisco Systems, Inc. All rights reserved.</a:t>
            </a:r>
          </a:p>
          <a:p>
            <a:pPr algn="l" defTabSz="611188">
              <a:lnSpc>
                <a:spcPct val="100000"/>
              </a:lnSpc>
              <a:tabLst>
                <a:tab pos="2387600" algn="l"/>
                <a:tab pos="4830763" algn="l"/>
              </a:tabLst>
              <a:defRPr/>
            </a:pPr>
            <a:r>
              <a:rPr lang="en-US" sz="800" dirty="0"/>
              <a:t>Presentation_ID.scr</a:t>
            </a:r>
          </a:p>
        </p:txBody>
      </p:sp>
      <p:sp>
        <p:nvSpPr>
          <p:cNvPr id="97284" name="Line 13"/>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p:spPr>
        <p:txBody>
          <a:bodyPr wrap="none" anchor="ctr"/>
          <a:lstStyle/>
          <a:p>
            <a:pPr>
              <a:defRPr/>
            </a:pPr>
            <a:endParaRPr lang="en-US" dirty="0"/>
          </a:p>
        </p:txBody>
      </p:sp>
      <p:sp>
        <p:nvSpPr>
          <p:cNvPr id="97285" name="Rectangle 14"/>
          <p:cNvSpPr>
            <a:spLocks noChangeArrowheads="1"/>
          </p:cNvSpPr>
          <p:nvPr/>
        </p:nvSpPr>
        <p:spPr bwMode="auto">
          <a:xfrm>
            <a:off x="5929313" y="8680450"/>
            <a:ext cx="812800" cy="287338"/>
          </a:xfrm>
          <a:prstGeom prst="rect">
            <a:avLst/>
          </a:prstGeom>
          <a:noFill/>
          <a:ln w="9525">
            <a:noFill/>
            <a:miter lim="800000"/>
            <a:headEnd/>
            <a:tailEnd/>
          </a:ln>
        </p:spPr>
        <p:txBody>
          <a:bodyPr lIns="18819" tIns="0" rIns="18819" bIns="0" anchor="b"/>
          <a:lstStyle/>
          <a:p>
            <a:pPr algn="r" defTabSz="903288">
              <a:lnSpc>
                <a:spcPct val="100000"/>
              </a:lnSpc>
              <a:defRPr/>
            </a:pPr>
            <a:fld id="{DA18195A-CB64-47E2-B402-53696444ACC8}" type="slidenum">
              <a:rPr lang="en-US" sz="800"/>
              <a:pPr algn="r" defTabSz="903288">
                <a:lnSpc>
                  <a:spcPct val="100000"/>
                </a:lnSpc>
                <a:defRPr/>
              </a:pPr>
              <a:t>‹#›</a:t>
            </a:fld>
            <a:endParaRPr lang="en-US" sz="800" dirty="0"/>
          </a:p>
        </p:txBody>
      </p:sp>
    </p:spTree>
    <p:extLst>
      <p:ext uri="{BB962C8B-B14F-4D97-AF65-F5344CB8AC3E}">
        <p14:creationId xmlns:p14="http://schemas.microsoft.com/office/powerpoint/2010/main" val="5365603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8"/>
          <p:cNvSpPr>
            <a:spLocks noChangeArrowheads="1"/>
          </p:cNvSpPr>
          <p:nvPr/>
        </p:nvSpPr>
        <p:spPr bwMode="auto">
          <a:xfrm>
            <a:off x="6249988" y="8609013"/>
            <a:ext cx="449262" cy="212725"/>
          </a:xfrm>
          <a:prstGeom prst="rect">
            <a:avLst/>
          </a:prstGeom>
          <a:noFill/>
          <a:ln w="9525">
            <a:noFill/>
            <a:miter lim="800000"/>
            <a:headEnd/>
            <a:tailEnd/>
          </a:ln>
        </p:spPr>
        <p:txBody>
          <a:bodyPr wrap="none" anchor="ctr"/>
          <a:lstStyle/>
          <a:p>
            <a:pPr>
              <a:defRPr/>
            </a:pPr>
            <a:endParaRPr lang="en-US" dirty="0"/>
          </a:p>
        </p:txBody>
      </p:sp>
      <p:sp>
        <p:nvSpPr>
          <p:cNvPr id="51203" name="Rectangle 9"/>
          <p:cNvSpPr>
            <a:spLocks noChangeArrowheads="1"/>
          </p:cNvSpPr>
          <p:nvPr/>
        </p:nvSpPr>
        <p:spPr bwMode="auto">
          <a:xfrm>
            <a:off x="57150" y="8785225"/>
            <a:ext cx="2619375" cy="347663"/>
          </a:xfrm>
          <a:prstGeom prst="rect">
            <a:avLst/>
          </a:prstGeom>
          <a:noFill/>
          <a:ln w="9525">
            <a:noFill/>
            <a:miter lim="800000"/>
            <a:headEnd/>
            <a:tailEnd/>
          </a:ln>
        </p:spPr>
        <p:txBody>
          <a:bodyPr lIns="95667" tIns="50185" rIns="95667" bIns="50185">
            <a:spAutoFit/>
          </a:bodyPr>
          <a:lstStyle/>
          <a:p>
            <a:pPr algn="l" defTabSz="611188">
              <a:lnSpc>
                <a:spcPct val="100000"/>
              </a:lnSpc>
              <a:tabLst>
                <a:tab pos="2387600" algn="l"/>
                <a:tab pos="4830763" algn="l"/>
              </a:tabLst>
              <a:defRPr/>
            </a:pPr>
            <a:r>
              <a:rPr lang="en-US" sz="800" dirty="0"/>
              <a:t>© 2006, Cisco Systems, Inc. All rights reserved.</a:t>
            </a:r>
          </a:p>
          <a:p>
            <a:pPr algn="l" defTabSz="611188">
              <a:lnSpc>
                <a:spcPct val="100000"/>
              </a:lnSpc>
              <a:tabLst>
                <a:tab pos="2387600" algn="l"/>
                <a:tab pos="4830763" algn="l"/>
              </a:tabLst>
              <a:defRPr/>
            </a:pPr>
            <a:r>
              <a:rPr lang="en-US" sz="800" dirty="0"/>
              <a:t>Presentation_ID.scr</a:t>
            </a:r>
          </a:p>
        </p:txBody>
      </p:sp>
      <p:sp>
        <p:nvSpPr>
          <p:cNvPr id="51204" name="Line 10"/>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p:spPr>
        <p:txBody>
          <a:bodyPr wrap="none" anchor="ctr"/>
          <a:lstStyle/>
          <a:p>
            <a:pPr>
              <a:defRPr/>
            </a:pPr>
            <a:endParaRPr lang="en-US" dirty="0"/>
          </a:p>
        </p:txBody>
      </p:sp>
      <p:sp>
        <p:nvSpPr>
          <p:cNvPr id="183307" name="Rectangle 11"/>
          <p:cNvSpPr>
            <a:spLocks noGrp="1" noChangeArrowheads="1"/>
          </p:cNvSpPr>
          <p:nvPr>
            <p:ph type="sldNum" sz="quarter" idx="5"/>
          </p:nvPr>
        </p:nvSpPr>
        <p:spPr bwMode="auto">
          <a:xfrm>
            <a:off x="5929313" y="8680450"/>
            <a:ext cx="812800" cy="287338"/>
          </a:xfrm>
          <a:prstGeom prst="rect">
            <a:avLst/>
          </a:prstGeom>
          <a:noFill/>
          <a:ln w="9525">
            <a:noFill/>
            <a:miter lim="800000"/>
            <a:headEnd/>
            <a:tailEnd/>
          </a:ln>
          <a:effectLst/>
        </p:spPr>
        <p:txBody>
          <a:bodyPr vert="horz" wrap="square" lIns="18819" tIns="0" rIns="18819" bIns="0" numCol="1" anchor="b" anchorCtr="0" compatLnSpc="1">
            <a:prstTxWarp prst="textNoShape">
              <a:avLst/>
            </a:prstTxWarp>
          </a:bodyPr>
          <a:lstStyle>
            <a:lvl1pPr algn="r" defTabSz="903288">
              <a:lnSpc>
                <a:spcPct val="100000"/>
              </a:lnSpc>
              <a:defRPr sz="800"/>
            </a:lvl1pPr>
          </a:lstStyle>
          <a:p>
            <a:pPr>
              <a:defRPr/>
            </a:pPr>
            <a:fld id="{1C615CF7-9F59-4C8A-B650-E68E69E0FCFD}" type="slidenum">
              <a:rPr lang="en-US"/>
              <a:pPr>
                <a:defRPr/>
              </a:pPr>
              <a:t>‹#›</a:t>
            </a:fld>
            <a:endParaRPr lang="en-US" dirty="0"/>
          </a:p>
        </p:txBody>
      </p:sp>
      <p:sp>
        <p:nvSpPr>
          <p:cNvPr id="54278" name="Rectangle 12"/>
          <p:cNvSpPr>
            <a:spLocks noGrp="1" noRot="1" noChangeAspect="1" noChangeArrowheads="1" noTextEdit="1"/>
          </p:cNvSpPr>
          <p:nvPr>
            <p:ph type="sldImg" idx="2"/>
          </p:nvPr>
        </p:nvSpPr>
        <p:spPr bwMode="auto">
          <a:xfrm>
            <a:off x="873125" y="244475"/>
            <a:ext cx="5321300" cy="3990975"/>
          </a:xfrm>
          <a:prstGeom prst="rect">
            <a:avLst/>
          </a:prstGeom>
          <a:noFill/>
          <a:ln w="12700">
            <a:solidFill>
              <a:schemeClr val="tx1"/>
            </a:solidFill>
            <a:miter lim="800000"/>
            <a:headEnd/>
            <a:tailEnd/>
          </a:ln>
        </p:spPr>
      </p:sp>
      <p:sp>
        <p:nvSpPr>
          <p:cNvPr id="183309" name="Rectangle 13"/>
          <p:cNvSpPr>
            <a:spLocks noGrp="1" noChangeArrowheads="1"/>
          </p:cNvSpPr>
          <p:nvPr>
            <p:ph type="body" sz="quarter" idx="3"/>
          </p:nvPr>
        </p:nvSpPr>
        <p:spPr bwMode="auto">
          <a:xfrm>
            <a:off x="768350" y="4378325"/>
            <a:ext cx="5468938" cy="4252913"/>
          </a:xfrm>
          <a:prstGeom prst="rect">
            <a:avLst/>
          </a:prstGeom>
          <a:noFill/>
          <a:ln w="9525">
            <a:noFill/>
            <a:miter lim="800000"/>
            <a:headEnd/>
            <a:tailEnd/>
          </a:ln>
          <a:effectLst/>
        </p:spPr>
        <p:txBody>
          <a:bodyPr vert="horz" wrap="square" lIns="95667" tIns="50185" rIns="95667" bIns="50185" numCol="1" anchor="t" anchorCtr="0" compatLnSpc="1">
            <a:prstTxWarp prst="textNoShape">
              <a:avLst/>
            </a:prstTxWarp>
          </a:bodyPr>
          <a:lstStyle/>
          <a:p>
            <a:pPr lvl="0"/>
            <a:r>
              <a:rPr lang="en-US" noProof="0" smtClean="0"/>
              <a:t>Body Text</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Tree>
    <p:extLst>
      <p:ext uri="{BB962C8B-B14F-4D97-AF65-F5344CB8AC3E}">
        <p14:creationId xmlns:p14="http://schemas.microsoft.com/office/powerpoint/2010/main" val="3146782537"/>
      </p:ext>
    </p:extLst>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50000"/>
      </a:spcBef>
      <a:spcAft>
        <a:spcPct val="0"/>
      </a:spcAft>
      <a:buSzPct val="100000"/>
      <a:buChar char="•"/>
      <a:defRPr sz="1200" kern="1200">
        <a:solidFill>
          <a:schemeClr val="tx1"/>
        </a:solidFill>
        <a:latin typeface="Arial" charset="0"/>
        <a:ea typeface="+mn-ea"/>
        <a:cs typeface="+mn-cs"/>
      </a:defRPr>
    </a:lvl1pPr>
    <a:lvl2pPr marL="482600" indent="-120650"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2pPr>
    <a:lvl3pPr marL="9667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3pPr>
    <a:lvl4pPr marL="14493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4pPr>
    <a:lvl5pPr marL="19319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4105955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3</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1138860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4</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3231449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5</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3788473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6</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9.1.5.1 Where to Place </a:t>
            </a:r>
            <a:r>
              <a:rPr lang="en-US" sz="1200" b="1" i="0" kern="1200" dirty="0" err="1" smtClean="0">
                <a:solidFill>
                  <a:schemeClr val="tx1"/>
                </a:solidFill>
                <a:effectLst/>
                <a:latin typeface="Arial" charset="0"/>
                <a:ea typeface="+mn-ea"/>
                <a:cs typeface="+mn-cs"/>
              </a:rPr>
              <a:t>ACLs</a:t>
            </a: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1638677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7</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9.2.1.1 Entering Criteria Statements</a:t>
            </a: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3602502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8</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9.2.1.4 Internal Logic</a:t>
            </a: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2220942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9</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23504870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10</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9.2.1.7 Creating Named Standard </a:t>
            </a:r>
            <a:r>
              <a:rPr lang="en-US" sz="1200" b="1" i="0" kern="1200" dirty="0" err="1" smtClean="0">
                <a:solidFill>
                  <a:schemeClr val="tx1"/>
                </a:solidFill>
                <a:effectLst/>
                <a:latin typeface="Arial" charset="0"/>
                <a:ea typeface="+mn-ea"/>
                <a:cs typeface="+mn-cs"/>
              </a:rPr>
              <a:t>ACLs</a:t>
            </a: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3720147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11</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367894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12</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1694100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13</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825279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14</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9.2.2.4 Verifying </a:t>
            </a:r>
            <a:r>
              <a:rPr lang="en-US" sz="1200" b="1" i="0" kern="1200" dirty="0" err="1" smtClean="0">
                <a:solidFill>
                  <a:schemeClr val="tx1"/>
                </a:solidFill>
                <a:effectLst/>
                <a:latin typeface="Arial" charset="0"/>
                <a:ea typeface="+mn-ea"/>
                <a:cs typeface="+mn-cs"/>
              </a:rPr>
              <a:t>ACLs</a:t>
            </a: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786817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15</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9.2.2.5 ACL Statistics</a:t>
            </a: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33928055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16</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9.2.2.5 ACL Statistics</a:t>
            </a: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40755354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17</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9.3.1.1 Extended </a:t>
            </a:r>
            <a:r>
              <a:rPr lang="en-US" sz="1200" b="1" i="0" kern="1200" dirty="0" err="1" smtClean="0">
                <a:solidFill>
                  <a:schemeClr val="tx1"/>
                </a:solidFill>
                <a:effectLst/>
                <a:latin typeface="Arial" charset="0"/>
                <a:ea typeface="+mn-ea"/>
                <a:cs typeface="+mn-cs"/>
              </a:rPr>
              <a:t>ACLs</a:t>
            </a: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489891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18</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9.3.1.2 Extended </a:t>
            </a:r>
            <a:r>
              <a:rPr lang="en-US" sz="1200" b="1" i="0" kern="1200" dirty="0" err="1" smtClean="0">
                <a:solidFill>
                  <a:schemeClr val="tx1"/>
                </a:solidFill>
                <a:effectLst/>
                <a:latin typeface="Arial" charset="0"/>
                <a:ea typeface="+mn-ea"/>
                <a:cs typeface="+mn-cs"/>
              </a:rPr>
              <a:t>ACLs</a:t>
            </a:r>
            <a:r>
              <a:rPr lang="en-US" sz="1200" b="1" i="0" kern="1200" dirty="0" smtClean="0">
                <a:solidFill>
                  <a:schemeClr val="tx1"/>
                </a:solidFill>
                <a:effectLst/>
                <a:latin typeface="Arial" charset="0"/>
                <a:ea typeface="+mn-ea"/>
                <a:cs typeface="+mn-cs"/>
              </a:rPr>
              <a:t> (Cont.)</a:t>
            </a: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20019872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19</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34259403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20</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endParaRPr lang="en-US" sz="1200" b="1" i="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13600561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PPt_CoverArt1"/>
          <p:cNvPicPr>
            <a:picLocks noChangeAspect="1" noChangeArrowheads="1"/>
          </p:cNvPicPr>
          <p:nvPr/>
        </p:nvPicPr>
        <p:blipFill>
          <a:blip r:embed="rId2" cstate="print"/>
          <a:srcRect/>
          <a:stretch>
            <a:fillRect/>
          </a:stretch>
        </p:blipFill>
        <p:spPr bwMode="auto">
          <a:xfrm>
            <a:off x="0" y="1893888"/>
            <a:ext cx="9140825" cy="2449512"/>
          </a:xfrm>
          <a:prstGeom prst="rect">
            <a:avLst/>
          </a:prstGeom>
          <a:noFill/>
          <a:ln w="9525">
            <a:noFill/>
            <a:miter lim="800000"/>
            <a:headEnd/>
            <a:tailEnd/>
          </a:ln>
        </p:spPr>
      </p:pic>
      <p:sp>
        <p:nvSpPr>
          <p:cNvPr id="5" name="Rectangle 3"/>
          <p:cNvSpPr>
            <a:spLocks noChangeArrowheads="1"/>
          </p:cNvSpPr>
          <p:nvPr/>
        </p:nvSpPr>
        <p:spPr bwMode="auto">
          <a:xfrm>
            <a:off x="4498975" y="6670675"/>
            <a:ext cx="2347913" cy="190500"/>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2007 – 2010, Cisco Systems, Inc. All rights reserved.</a:t>
            </a:r>
          </a:p>
        </p:txBody>
      </p:sp>
      <p:sp>
        <p:nvSpPr>
          <p:cNvPr id="6" name="Rectangle 4"/>
          <p:cNvSpPr>
            <a:spLocks noChangeArrowheads="1"/>
          </p:cNvSpPr>
          <p:nvPr/>
        </p:nvSpPr>
        <p:spPr bwMode="auto">
          <a:xfrm>
            <a:off x="7123113" y="6672263"/>
            <a:ext cx="650875"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Public</a:t>
            </a:r>
          </a:p>
        </p:txBody>
      </p:sp>
      <p:sp>
        <p:nvSpPr>
          <p:cNvPr id="7" name="Rectangle 5"/>
          <p:cNvSpPr>
            <a:spLocks noChangeArrowheads="1"/>
          </p:cNvSpPr>
          <p:nvPr/>
        </p:nvSpPr>
        <p:spPr bwMode="auto">
          <a:xfrm>
            <a:off x="193675" y="6562725"/>
            <a:ext cx="962025" cy="298450"/>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ITE PC v4.1</a:t>
            </a:r>
          </a:p>
          <a:p>
            <a:pPr algn="l" defTabSz="814388">
              <a:lnSpc>
                <a:spcPct val="100000"/>
              </a:lnSpc>
              <a:defRPr/>
            </a:pPr>
            <a:r>
              <a:rPr lang="en-US" sz="700" dirty="0">
                <a:solidFill>
                  <a:srgbClr val="D3D3D3"/>
                </a:solidFill>
              </a:rPr>
              <a:t>Chapter 1</a:t>
            </a:r>
          </a:p>
        </p:txBody>
      </p:sp>
      <p:sp>
        <p:nvSpPr>
          <p:cNvPr id="8" name="Rectangle 6"/>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8549DCE3-6259-4D7A-B1A4-505BEFE2CF19}" type="slidenum">
              <a:rPr lang="en-US" sz="1000">
                <a:solidFill>
                  <a:srgbClr val="D3D3D3"/>
                </a:solidFill>
              </a:rPr>
              <a:pPr algn="r" defTabSz="814388">
                <a:lnSpc>
                  <a:spcPct val="100000"/>
                </a:lnSpc>
                <a:defRPr/>
              </a:pPr>
              <a:t>‹#›</a:t>
            </a:fld>
            <a:endParaRPr lang="en-US" sz="1000" dirty="0">
              <a:solidFill>
                <a:srgbClr val="D3D3D3"/>
              </a:solidFill>
            </a:endParaRPr>
          </a:p>
        </p:txBody>
      </p:sp>
      <p:pic>
        <p:nvPicPr>
          <p:cNvPr id="9" name="Picture 9" descr="Cisco_NewLogo"/>
          <p:cNvPicPr>
            <a:picLocks noChangeAspect="1" noChangeArrowheads="1"/>
          </p:cNvPicPr>
          <p:nvPr/>
        </p:nvPicPr>
        <p:blipFill>
          <a:blip r:embed="rId3" cstate="print"/>
          <a:srcRect/>
          <a:stretch>
            <a:fillRect/>
          </a:stretch>
        </p:blipFill>
        <p:spPr bwMode="auto">
          <a:xfrm>
            <a:off x="5483225" y="5940425"/>
            <a:ext cx="3354388" cy="474663"/>
          </a:xfrm>
          <a:prstGeom prst="rect">
            <a:avLst/>
          </a:prstGeom>
          <a:noFill/>
          <a:ln w="9525">
            <a:noFill/>
            <a:miter lim="800000"/>
            <a:headEnd/>
            <a:tailEnd/>
          </a:ln>
        </p:spPr>
      </p:pic>
      <p:pic>
        <p:nvPicPr>
          <p:cNvPr id="10" name="Picture 10" descr="Cisco"/>
          <p:cNvPicPr>
            <a:picLocks noChangeAspect="1" noChangeArrowheads="1"/>
          </p:cNvPicPr>
          <p:nvPr/>
        </p:nvPicPr>
        <p:blipFill>
          <a:blip r:embed="rId4" cstate="print"/>
          <a:srcRect/>
          <a:stretch>
            <a:fillRect/>
          </a:stretch>
        </p:blipFill>
        <p:spPr bwMode="auto">
          <a:xfrm>
            <a:off x="246063" y="119063"/>
            <a:ext cx="1171575" cy="904875"/>
          </a:xfrm>
          <a:prstGeom prst="rect">
            <a:avLst/>
          </a:prstGeom>
          <a:noFill/>
          <a:ln w="9525">
            <a:noFill/>
            <a:miter lim="800000"/>
            <a:headEnd/>
            <a:tailEnd/>
          </a:ln>
        </p:spPr>
      </p:pic>
      <p:sp>
        <p:nvSpPr>
          <p:cNvPr id="1290247" name="Rectangle 7"/>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a:t>Click To Edit Master Title Style</a:t>
            </a:r>
          </a:p>
        </p:txBody>
      </p:sp>
      <p:sp>
        <p:nvSpPr>
          <p:cNvPr id="1290248" name="Rectangle 8"/>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55638" y="798513"/>
            <a:ext cx="8145462" cy="8382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55638" y="2014538"/>
            <a:ext cx="7940675" cy="3571875"/>
          </a:xfrm>
        </p:spPr>
        <p:txBody>
          <a:bodyPr/>
          <a:lstStyle/>
          <a:p>
            <a:pPr lvl="0"/>
            <a:endParaRPr lang="en-US" noProof="0" dirty="0"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03405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0DDF080-5E8C-48AD-84E5-6C08B304C14E}" type="datetimeFigureOut">
              <a:rPr lang="en-US" dirty="0"/>
              <a:t>5/22/2024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7333891-D5E7-4C7B-BF1D-E855E53CB5A8}" type="slidenum">
              <a:rPr lang="en-US" dirty="0"/>
              <a:t>‹#›</a:t>
            </a:fld>
            <a:endParaRPr lang="en-US" dirty="0"/>
          </a:p>
        </p:txBody>
      </p:sp>
    </p:spTree>
    <p:extLst>
      <p:ext uri="{BB962C8B-B14F-4D97-AF65-F5344CB8AC3E}">
        <p14:creationId xmlns:p14="http://schemas.microsoft.com/office/powerpoint/2010/main" val="166526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682022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100700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73190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425048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823929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DDF080-5E8C-48AD-84E5-6C08B304C14E}" type="datetimeFigureOut">
              <a:rPr lang="en-US" dirty="0"/>
              <a:t>5/22/2024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7333891-D5E7-4C7B-BF1D-E855E53CB5A8}" type="slidenum">
              <a:rPr lang="en-US" dirty="0"/>
              <a:t>‹#›</a:t>
            </a:fld>
            <a:endParaRPr lang="en-US" dirty="0"/>
          </a:p>
        </p:txBody>
      </p:sp>
    </p:spTree>
    <p:extLst>
      <p:ext uri="{BB962C8B-B14F-4D97-AF65-F5344CB8AC3E}">
        <p14:creationId xmlns:p14="http://schemas.microsoft.com/office/powerpoint/2010/main" val="19526388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587041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775408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406697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312316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052449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355457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0DDF080-5E8C-48AD-84E5-6C08B304C14E}" type="datetimeFigureOut">
              <a:rPr lang="en-US" dirty="0"/>
              <a:t>5/22/2024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7333891-D5E7-4C7B-BF1D-E855E53CB5A8}" type="slidenum">
              <a:rPr lang="en-US" dirty="0"/>
              <a:t>‹#›</a:t>
            </a:fld>
            <a:endParaRPr lang="en-US" dirty="0"/>
          </a:p>
        </p:txBody>
      </p:sp>
    </p:spTree>
    <p:extLst>
      <p:ext uri="{BB962C8B-B14F-4D97-AF65-F5344CB8AC3E}">
        <p14:creationId xmlns:p14="http://schemas.microsoft.com/office/powerpoint/2010/main" val="37605722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04536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55638" y="798513"/>
            <a:ext cx="8145462" cy="838200"/>
          </a:xfrm>
          <a:prstGeom prst="rect">
            <a:avLst/>
          </a:prstGeom>
          <a:noFill/>
          <a:ln w="9525" algn="ctr">
            <a:noFill/>
            <a:miter lim="800000"/>
            <a:headEnd/>
            <a:tailEnd/>
          </a:ln>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1027" name="Rectangle 4"/>
          <p:cNvSpPr>
            <a:spLocks noChangeArrowheads="1"/>
          </p:cNvSpPr>
          <p:nvPr/>
        </p:nvSpPr>
        <p:spPr bwMode="auto">
          <a:xfrm>
            <a:off x="193675" y="6562725"/>
            <a:ext cx="962025" cy="298450"/>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ITE PC v4.1</a:t>
            </a:r>
          </a:p>
          <a:p>
            <a:pPr algn="l" defTabSz="814388">
              <a:lnSpc>
                <a:spcPct val="100000"/>
              </a:lnSpc>
              <a:defRPr/>
            </a:pPr>
            <a:r>
              <a:rPr lang="en-US" sz="700" dirty="0">
                <a:solidFill>
                  <a:srgbClr val="D3D3D3"/>
                </a:solidFill>
              </a:rPr>
              <a:t>Chapter 1</a:t>
            </a:r>
          </a:p>
        </p:txBody>
      </p:sp>
      <p:sp>
        <p:nvSpPr>
          <p:cNvPr id="1028" name="Rectangle 5"/>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934F42D9-89E1-4620-9E58-D735D372F12F}" type="slidenum">
              <a:rPr lang="en-US" sz="1000">
                <a:solidFill>
                  <a:srgbClr val="D3D3D3"/>
                </a:solidFill>
              </a:rPr>
              <a:pPr algn="r" defTabSz="814388">
                <a:lnSpc>
                  <a:spcPct val="100000"/>
                </a:lnSpc>
                <a:defRPr/>
              </a:pPr>
              <a:t>‹#›</a:t>
            </a:fld>
            <a:endParaRPr lang="en-US" sz="1000" dirty="0">
              <a:solidFill>
                <a:srgbClr val="D3D3D3"/>
              </a:solidFill>
            </a:endParaRPr>
          </a:p>
        </p:txBody>
      </p:sp>
      <p:sp>
        <p:nvSpPr>
          <p:cNvPr id="1029" name="Rectangle 6"/>
          <p:cNvSpPr>
            <a:spLocks noGrp="1" noChangeArrowheads="1"/>
          </p:cNvSpPr>
          <p:nvPr>
            <p:ph type="body" idx="1"/>
          </p:nvPr>
        </p:nvSpPr>
        <p:spPr bwMode="auto">
          <a:xfrm>
            <a:off x="655638" y="2014538"/>
            <a:ext cx="7940675" cy="3571875"/>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1030" name="Picture 7" descr="PPt_TopBand_Artwork"/>
          <p:cNvPicPr>
            <a:picLocks noChangeAspect="1" noChangeArrowheads="1"/>
          </p:cNvPicPr>
          <p:nvPr/>
        </p:nvPicPr>
        <p:blipFill>
          <a:blip r:embed="rId14" cstate="print"/>
          <a:srcRect/>
          <a:stretch>
            <a:fillRect/>
          </a:stretch>
        </p:blipFill>
        <p:spPr bwMode="auto">
          <a:xfrm>
            <a:off x="0" y="0"/>
            <a:ext cx="9140825" cy="685800"/>
          </a:xfrm>
          <a:prstGeom prst="rect">
            <a:avLst/>
          </a:prstGeom>
          <a:noFill/>
          <a:ln w="9525">
            <a:noFill/>
            <a:miter lim="800000"/>
            <a:headEnd/>
            <a:tailEnd/>
          </a:ln>
        </p:spPr>
      </p:pic>
      <p:sp>
        <p:nvSpPr>
          <p:cNvPr id="1031" name="Rectangle 8"/>
          <p:cNvSpPr>
            <a:spLocks noChangeArrowheads="1"/>
          </p:cNvSpPr>
          <p:nvPr/>
        </p:nvSpPr>
        <p:spPr bwMode="auto">
          <a:xfrm>
            <a:off x="4498975" y="6670675"/>
            <a:ext cx="2347913" cy="190500"/>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2007 – 2010, Cisco Systems, Inc. All rights reserved.</a:t>
            </a:r>
          </a:p>
        </p:txBody>
      </p:sp>
      <p:sp>
        <p:nvSpPr>
          <p:cNvPr id="1032" name="Rectangle 9"/>
          <p:cNvSpPr>
            <a:spLocks noChangeArrowheads="1"/>
          </p:cNvSpPr>
          <p:nvPr/>
        </p:nvSpPr>
        <p:spPr bwMode="auto">
          <a:xfrm>
            <a:off x="7123113" y="6672263"/>
            <a:ext cx="650875"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Public</a:t>
            </a:r>
          </a:p>
        </p:txBody>
      </p:sp>
    </p:spTree>
  </p:cSld>
  <p:clrMap bg1="lt1" tx1="dk1" bg2="lt2" tx2="dk2" accent1="accent1" accent2="accent2" accent3="accent3" accent4="accent4" accent5="accent5" accent6="accent6" hlink="hlink" folHlink="folHlink"/>
  <p:sldLayoutIdLst>
    <p:sldLayoutId id="2147484530" r:id="rId1"/>
    <p:sldLayoutId id="2147484509" r:id="rId2"/>
    <p:sldLayoutId id="2147484510" r:id="rId3"/>
    <p:sldLayoutId id="2147484511" r:id="rId4"/>
    <p:sldLayoutId id="2147484512" r:id="rId5"/>
    <p:sldLayoutId id="2147484513" r:id="rId6"/>
    <p:sldLayoutId id="2147484514" r:id="rId7"/>
    <p:sldLayoutId id="2147484515" r:id="rId8"/>
    <p:sldLayoutId id="2147484516" r:id="rId9"/>
    <p:sldLayoutId id="2147484517" r:id="rId10"/>
    <p:sldLayoutId id="2147484518" r:id="rId11"/>
    <p:sldLayoutId id="2147484519" r:id="rId12"/>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fontAlgn="base">
        <a:lnSpc>
          <a:spcPct val="90000"/>
        </a:lnSpc>
        <a:spcBef>
          <a:spcPct val="0"/>
        </a:spcBef>
        <a:spcAft>
          <a:spcPct val="0"/>
        </a:spcAft>
        <a:defRPr sz="3200" b="1">
          <a:solidFill>
            <a:srgbClr val="708CA1"/>
          </a:solidFill>
          <a:latin typeface="Arial" charset="0"/>
        </a:defRPr>
      </a:lvl6pPr>
      <a:lvl7pPr marL="914400" algn="l" defTabSz="814388" rtl="0" fontAlgn="base">
        <a:lnSpc>
          <a:spcPct val="90000"/>
        </a:lnSpc>
        <a:spcBef>
          <a:spcPct val="0"/>
        </a:spcBef>
        <a:spcAft>
          <a:spcPct val="0"/>
        </a:spcAft>
        <a:defRPr sz="3200" b="1">
          <a:solidFill>
            <a:srgbClr val="708CA1"/>
          </a:solidFill>
          <a:latin typeface="Arial" charset="0"/>
        </a:defRPr>
      </a:lvl7pPr>
      <a:lvl8pPr marL="1371600" algn="l" defTabSz="814388" rtl="0" fontAlgn="base">
        <a:lnSpc>
          <a:spcPct val="90000"/>
        </a:lnSpc>
        <a:spcBef>
          <a:spcPct val="0"/>
        </a:spcBef>
        <a:spcAft>
          <a:spcPct val="0"/>
        </a:spcAft>
        <a:defRPr sz="3200" b="1">
          <a:solidFill>
            <a:srgbClr val="708CA1"/>
          </a:solidFill>
          <a:latin typeface="Arial" charset="0"/>
        </a:defRPr>
      </a:lvl8pPr>
      <a:lvl9pPr marL="1828800" algn="l" defTabSz="814388" rtl="0" fontAlgn="base">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0" fontAlgn="base" hangingPunct="0">
        <a:lnSpc>
          <a:spcPct val="95000"/>
        </a:lnSpc>
        <a:spcBef>
          <a:spcPct val="35000"/>
        </a:spcBef>
        <a:spcAft>
          <a:spcPct val="0"/>
        </a:spcAft>
        <a:buClr>
          <a:srgbClr val="708CA1"/>
        </a:buClr>
        <a:defRPr sz="2000">
          <a:solidFill>
            <a:schemeClr val="tx1"/>
          </a:solidFill>
          <a:latin typeface="+mn-lt"/>
        </a:defRPr>
      </a:lvl6pPr>
      <a:lvl7pPr marL="2519363" algn="l" defTabSz="814388" rtl="0" eaLnBrk="0" fontAlgn="base" hangingPunct="0">
        <a:lnSpc>
          <a:spcPct val="95000"/>
        </a:lnSpc>
        <a:spcBef>
          <a:spcPct val="35000"/>
        </a:spcBef>
        <a:spcAft>
          <a:spcPct val="0"/>
        </a:spcAft>
        <a:buClr>
          <a:srgbClr val="708CA1"/>
        </a:buClr>
        <a:defRPr sz="2000">
          <a:solidFill>
            <a:schemeClr val="tx1"/>
          </a:solidFill>
          <a:latin typeface="+mn-lt"/>
        </a:defRPr>
      </a:lvl7pPr>
      <a:lvl8pPr marL="2976563" algn="l" defTabSz="814388" rtl="0" eaLnBrk="0" fontAlgn="base" hangingPunct="0">
        <a:lnSpc>
          <a:spcPct val="95000"/>
        </a:lnSpc>
        <a:spcBef>
          <a:spcPct val="35000"/>
        </a:spcBef>
        <a:spcAft>
          <a:spcPct val="0"/>
        </a:spcAft>
        <a:buClr>
          <a:srgbClr val="708CA1"/>
        </a:buClr>
        <a:defRPr sz="2000">
          <a:solidFill>
            <a:schemeClr val="tx1"/>
          </a:solidFill>
          <a:latin typeface="+mn-lt"/>
        </a:defRPr>
      </a:lvl8pPr>
      <a:lvl9pPr marL="3433763" algn="l" defTabSz="814388" rtl="0" eaLnBrk="0" fontAlgn="base" hangingPunct="0">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5/22/2024</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74359006"/>
      </p:ext>
    </p:extLst>
  </p:cSld>
  <p:clrMap bg1="lt1" tx1="dk1" bg2="lt2" tx2="dk2" accent1="accent1" accent2="accent2" accent3="accent3" accent4="accent4" accent5="accent5" accent6="accent6" hlink="hlink" folHlink="folHlink"/>
  <p:sldLayoutIdLst>
    <p:sldLayoutId id="2147484533" r:id="rId1"/>
    <p:sldLayoutId id="2147484534" r:id="rId2"/>
    <p:sldLayoutId id="2147484535" r:id="rId3"/>
    <p:sldLayoutId id="2147484536" r:id="rId4"/>
    <p:sldLayoutId id="2147484537" r:id="rId5"/>
    <p:sldLayoutId id="2147484538" r:id="rId6"/>
    <p:sldLayoutId id="2147484539" r:id="rId7"/>
    <p:sldLayoutId id="2147484540" r:id="rId8"/>
    <p:sldLayoutId id="2147484541" r:id="rId9"/>
    <p:sldLayoutId id="2147484542" r:id="rId10"/>
    <p:sldLayoutId id="2147484543" r:id="rId11"/>
    <p:sldLayoutId id="2147484544" r:id="rId12"/>
    <p:sldLayoutId id="2147484545" r:id="rId13"/>
    <p:sldLayoutId id="2147484546" r:id="rId14"/>
    <p:sldLayoutId id="2147484547" r:id="rId15"/>
    <p:sldLayoutId id="214748454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199" y="2231136"/>
            <a:ext cx="6347713" cy="1320800"/>
          </a:xfrm>
        </p:spPr>
        <p:txBody>
          <a:bodyPr>
            <a:normAutofit/>
          </a:bodyPr>
          <a:lstStyle/>
          <a:p>
            <a:r>
              <a:rPr lang="en-US" sz="4000" dirty="0" smtClean="0"/>
              <a:t>ACL</a:t>
            </a:r>
            <a:endParaRPr lang="en-US" sz="4000" dirty="0"/>
          </a:p>
        </p:txBody>
      </p:sp>
      <p:sp>
        <p:nvSpPr>
          <p:cNvPr id="3" name="Content Placeholder 2"/>
          <p:cNvSpPr>
            <a:spLocks noGrp="1"/>
          </p:cNvSpPr>
          <p:nvPr>
            <p:ph idx="1"/>
          </p:nvPr>
        </p:nvSpPr>
        <p:spPr>
          <a:xfrm>
            <a:off x="1219199" y="2060448"/>
            <a:ext cx="5738113" cy="3980915"/>
          </a:xfrm>
        </p:spPr>
        <p:txBody>
          <a:bodyPr>
            <a:normAutofit/>
          </a:bodyPr>
          <a:lstStyle/>
          <a:p>
            <a:pPr marL="0" indent="0">
              <a:buNone/>
            </a:pPr>
            <a:endParaRPr lang="en-US" sz="4000" dirty="0" smtClean="0">
              <a:solidFill>
                <a:schemeClr val="accent1"/>
              </a:solidFill>
            </a:endParaRPr>
          </a:p>
          <a:p>
            <a:pPr marL="0" indent="0">
              <a:buNone/>
            </a:pPr>
            <a:r>
              <a:rPr lang="en-US" sz="4000" dirty="0" smtClean="0">
                <a:solidFill>
                  <a:schemeClr val="accent1"/>
                </a:solidFill>
              </a:rPr>
              <a:t>ACCESS CONTROL LIST</a:t>
            </a:r>
            <a:endParaRPr lang="en-US" sz="4000" dirty="0">
              <a:solidFill>
                <a:schemeClr val="accent1"/>
              </a:solidFill>
            </a:endParaRPr>
          </a:p>
        </p:txBody>
      </p:sp>
    </p:spTree>
    <p:extLst>
      <p:ext uri="{BB962C8B-B14F-4D97-AF65-F5344CB8AC3E}">
        <p14:creationId xmlns:p14="http://schemas.microsoft.com/office/powerpoint/2010/main" val="37576438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normAutofit/>
          </a:bodyPr>
          <a:lstStyle/>
          <a:p>
            <a:pPr eaLnBrk="1" hangingPunct="1">
              <a:defRPr/>
            </a:pPr>
            <a:r>
              <a:rPr lang="en-US" dirty="0" smtClean="0"/>
              <a:t>What </a:t>
            </a:r>
            <a:r>
              <a:rPr lang="en-US" dirty="0"/>
              <a:t>is an ACL?</a:t>
            </a:r>
            <a:endParaRPr lang="en-US" dirty="0" smtClean="0">
              <a:solidFill>
                <a:schemeClr val="accent5">
                  <a:lumMod val="75000"/>
                </a:schemeClr>
              </a:solidFill>
              <a:cs typeface="Arial" pitchFamily="34" charset="0"/>
            </a:endParaRPr>
          </a:p>
        </p:txBody>
      </p:sp>
      <p:pic>
        <p:nvPicPr>
          <p:cNvPr id="2" name="Content Placeholder 1"/>
          <p:cNvPicPr>
            <a:picLocks noGrp="1" noChangeAspect="1"/>
          </p:cNvPicPr>
          <p:nvPr>
            <p:ph idx="1"/>
          </p:nvPr>
        </p:nvPicPr>
        <p:blipFill>
          <a:blip r:embed="rId3" cstate="print"/>
          <a:srcRect l="-18367" r="-18367"/>
          <a:stretch>
            <a:fillRect/>
          </a:stretch>
        </p:blipFill>
        <p:spPr>
          <a:xfrm>
            <a:off x="365760" y="1565275"/>
            <a:ext cx="7205473" cy="4386263"/>
          </a:xfrm>
        </p:spPr>
      </p:pic>
    </p:spTree>
    <p:extLst>
      <p:ext uri="{BB962C8B-B14F-4D97-AF65-F5344CB8AC3E}">
        <p14:creationId xmlns:p14="http://schemas.microsoft.com/office/powerpoint/2010/main" val="1261932052"/>
      </p:ext>
    </p:extLst>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56030" y="1"/>
            <a:ext cx="6347715" cy="1438656"/>
          </a:xfrm>
        </p:spPr>
        <p:txBody>
          <a:bodyPr/>
          <a:lstStyle/>
          <a:p>
            <a:pPr eaLnBrk="1" hangingPunct="1">
              <a:defRPr/>
            </a:pPr>
            <a:r>
              <a:rPr lang="en-US" dirty="0" smtClean="0"/>
              <a:t>ACL </a:t>
            </a:r>
            <a:r>
              <a:rPr lang="en-US" dirty="0"/>
              <a:t>Operation</a:t>
            </a:r>
            <a:endParaRPr lang="en-US" dirty="0" smtClean="0">
              <a:solidFill>
                <a:schemeClr val="accent5">
                  <a:lumMod val="75000"/>
                </a:schemeClr>
              </a:solidFill>
              <a:cs typeface="Arial" pitchFamily="34" charset="0"/>
            </a:endParaRPr>
          </a:p>
        </p:txBody>
      </p:sp>
      <p:sp>
        <p:nvSpPr>
          <p:cNvPr id="38915" name="Content Placeholder 5"/>
          <p:cNvSpPr>
            <a:spLocks noGrp="1"/>
          </p:cNvSpPr>
          <p:nvPr>
            <p:ph type="body" idx="1"/>
          </p:nvPr>
        </p:nvSpPr>
        <p:spPr>
          <a:xfrm>
            <a:off x="633982" y="3881272"/>
            <a:ext cx="6347715" cy="860400"/>
          </a:xfrm>
        </p:spPr>
        <p:txBody>
          <a:bodyPr>
            <a:normAutofit fontScale="25000" lnSpcReduction="20000"/>
          </a:bodyPr>
          <a:lstStyle/>
          <a:p>
            <a:pPr marL="0" indent="0">
              <a:buNone/>
            </a:pP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5600" dirty="0" smtClean="0">
                <a:latin typeface="Times New Roman" panose="02020603050405020304" pitchFamily="18" charset="0"/>
                <a:cs typeface="Times New Roman" panose="02020603050405020304" pitchFamily="18" charset="0"/>
              </a:rPr>
              <a:t/>
            </a:r>
            <a:br>
              <a:rPr lang="en-US" sz="5600" dirty="0" smtClean="0">
                <a:latin typeface="Times New Roman" panose="02020603050405020304" pitchFamily="18" charset="0"/>
                <a:cs typeface="Times New Roman" panose="02020603050405020304" pitchFamily="18" charset="0"/>
              </a:rPr>
            </a:br>
            <a:r>
              <a:rPr lang="en-US" sz="5600" dirty="0" smtClean="0">
                <a:solidFill>
                  <a:schemeClr val="tx1"/>
                </a:solidFill>
                <a:latin typeface="Times New Roman" panose="02020603050405020304" pitchFamily="18" charset="0"/>
                <a:cs typeface="Times New Roman" panose="02020603050405020304" pitchFamily="18" charset="0"/>
              </a:rPr>
              <a:t/>
            </a:r>
            <a:br>
              <a:rPr lang="en-US" sz="5600" dirty="0" smtClean="0">
                <a:solidFill>
                  <a:schemeClr val="tx1"/>
                </a:solidFill>
                <a:latin typeface="Times New Roman" panose="02020603050405020304" pitchFamily="18" charset="0"/>
                <a:cs typeface="Times New Roman" panose="02020603050405020304" pitchFamily="18" charset="0"/>
              </a:rPr>
            </a:br>
            <a:r>
              <a:rPr lang="en-US" sz="5600" dirty="0" smtClean="0">
                <a:solidFill>
                  <a:schemeClr val="tx1"/>
                </a:solidFill>
                <a:latin typeface="Times New Roman" panose="02020603050405020304" pitchFamily="18" charset="0"/>
                <a:cs typeface="Times New Roman" panose="02020603050405020304" pitchFamily="18" charset="0"/>
              </a:rPr>
              <a:t>The </a:t>
            </a:r>
            <a:r>
              <a:rPr lang="en-US" sz="5600" dirty="0">
                <a:solidFill>
                  <a:schemeClr val="tx1"/>
                </a:solidFill>
                <a:latin typeface="Times New Roman" panose="02020603050405020304" pitchFamily="18" charset="0"/>
                <a:cs typeface="Times New Roman" panose="02020603050405020304" pitchFamily="18" charset="0"/>
              </a:rPr>
              <a:t>last statement of an ACL is always an implicit deny. This statement is automatically inserted at the end of each ACL even though it is not physically present. The implicit deny blocks all traffic. Because of this implicit deny, an ACL that does not have at least one permit statement will block all traffic.</a:t>
            </a:r>
            <a:endParaRPr lang="en-US" sz="5600" dirty="0" smtClean="0">
              <a:solidFill>
                <a:schemeClr val="tx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cstate="print"/>
          <a:stretch>
            <a:fillRect/>
          </a:stretch>
        </p:blipFill>
        <p:spPr>
          <a:xfrm>
            <a:off x="597345" y="1675666"/>
            <a:ext cx="6254559" cy="2717800"/>
          </a:xfrm>
          <a:prstGeom prst="rect">
            <a:avLst/>
          </a:prstGeom>
        </p:spPr>
      </p:pic>
    </p:spTree>
    <p:extLst>
      <p:ext uri="{BB962C8B-B14F-4D97-AF65-F5344CB8AC3E}">
        <p14:creationId xmlns:p14="http://schemas.microsoft.com/office/powerpoint/2010/main" val="582515525"/>
      </p:ext>
    </p:extLst>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normAutofit/>
          </a:bodyPr>
          <a:lstStyle/>
          <a:p>
            <a:pPr eaLnBrk="1" hangingPunct="1">
              <a:defRPr/>
            </a:pPr>
            <a:r>
              <a:rPr lang="en-US" dirty="0" smtClean="0"/>
              <a:t>Types </a:t>
            </a:r>
            <a:r>
              <a:rPr lang="en-US" dirty="0"/>
              <a:t>of Cisco IPv4 ACLs</a:t>
            </a:r>
            <a:endParaRPr lang="en-US" dirty="0" smtClean="0">
              <a:solidFill>
                <a:schemeClr val="accent5">
                  <a:lumMod val="75000"/>
                </a:schemeClr>
              </a:solidFill>
              <a:cs typeface="Arial" pitchFamily="34" charset="0"/>
            </a:endParaRPr>
          </a:p>
        </p:txBody>
      </p:sp>
      <p:sp>
        <p:nvSpPr>
          <p:cNvPr id="38915" name="Content Placeholder 5"/>
          <p:cNvSpPr>
            <a:spLocks noGrp="1"/>
          </p:cNvSpPr>
          <p:nvPr>
            <p:ph idx="1"/>
          </p:nvPr>
        </p:nvSpPr>
        <p:spPr>
          <a:xfrm>
            <a:off x="419926" y="1321435"/>
            <a:ext cx="7940675" cy="4386263"/>
          </a:xfrm>
        </p:spPr>
        <p:txBody>
          <a:bodyPr/>
          <a:lstStyle/>
          <a:p>
            <a:pPr marL="0" indent="0">
              <a:buNone/>
            </a:pPr>
            <a:r>
              <a:rPr lang="en-US" dirty="0" smtClean="0"/>
              <a:t>Standard ACLs</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r>
              <a:rPr lang="en-US" dirty="0" smtClean="0"/>
              <a:t>Extended ACLs</a:t>
            </a:r>
          </a:p>
        </p:txBody>
      </p:sp>
      <p:pic>
        <p:nvPicPr>
          <p:cNvPr id="2" name="Picture 1"/>
          <p:cNvPicPr>
            <a:picLocks noChangeAspect="1"/>
          </p:cNvPicPr>
          <p:nvPr/>
        </p:nvPicPr>
        <p:blipFill>
          <a:blip r:embed="rId3" cstate="print"/>
          <a:stretch>
            <a:fillRect/>
          </a:stretch>
        </p:blipFill>
        <p:spPr>
          <a:xfrm>
            <a:off x="585851" y="1640167"/>
            <a:ext cx="5936869" cy="1701800"/>
          </a:xfrm>
          <a:prstGeom prst="rect">
            <a:avLst/>
          </a:prstGeom>
        </p:spPr>
      </p:pic>
      <p:pic>
        <p:nvPicPr>
          <p:cNvPr id="3" name="Picture 2"/>
          <p:cNvPicPr>
            <a:picLocks noChangeAspect="1"/>
          </p:cNvPicPr>
          <p:nvPr/>
        </p:nvPicPr>
        <p:blipFill>
          <a:blip r:embed="rId4" cstate="print"/>
          <a:stretch>
            <a:fillRect/>
          </a:stretch>
        </p:blipFill>
        <p:spPr>
          <a:xfrm>
            <a:off x="586359" y="3755959"/>
            <a:ext cx="6143625" cy="2260600"/>
          </a:xfrm>
          <a:prstGeom prst="rect">
            <a:avLst/>
          </a:prstGeom>
        </p:spPr>
      </p:pic>
    </p:spTree>
    <p:extLst>
      <p:ext uri="{BB962C8B-B14F-4D97-AF65-F5344CB8AC3E}">
        <p14:creationId xmlns:p14="http://schemas.microsoft.com/office/powerpoint/2010/main" val="3961710532"/>
      </p:ext>
    </p:extLst>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6573139" cy="871538"/>
          </a:xfrm>
        </p:spPr>
        <p:txBody>
          <a:bodyPr>
            <a:normAutofit/>
          </a:bodyPr>
          <a:lstStyle/>
          <a:p>
            <a:pPr eaLnBrk="1" hangingPunct="1">
              <a:defRPr/>
            </a:pPr>
            <a:r>
              <a:rPr lang="en-US" sz="2800" dirty="0" smtClean="0"/>
              <a:t>General </a:t>
            </a:r>
            <a:r>
              <a:rPr lang="en-US" sz="2800" dirty="0"/>
              <a:t>Guidelines for Creating </a:t>
            </a:r>
            <a:r>
              <a:rPr lang="en-US" sz="2800" dirty="0" smtClean="0"/>
              <a:t>ACLs</a:t>
            </a:r>
            <a:endParaRPr lang="en-US" sz="2800" dirty="0" smtClean="0">
              <a:solidFill>
                <a:schemeClr val="accent5">
                  <a:lumMod val="75000"/>
                </a:schemeClr>
              </a:solidFill>
              <a:cs typeface="Arial" pitchFamily="34" charset="0"/>
            </a:endParaRPr>
          </a:p>
        </p:txBody>
      </p:sp>
      <p:sp>
        <p:nvSpPr>
          <p:cNvPr id="38915" name="Content Placeholder 5"/>
          <p:cNvSpPr>
            <a:spLocks noGrp="1"/>
          </p:cNvSpPr>
          <p:nvPr>
            <p:ph idx="1"/>
          </p:nvPr>
        </p:nvSpPr>
        <p:spPr>
          <a:xfrm>
            <a:off x="554039" y="1565275"/>
            <a:ext cx="6566090" cy="4386263"/>
          </a:xfrm>
        </p:spPr>
        <p:txBody>
          <a:bodyPr/>
          <a:lstStyle/>
          <a:p>
            <a:pPr marL="0" indent="0">
              <a:buNone/>
            </a:pPr>
            <a:r>
              <a:rPr lang="en-US" dirty="0" smtClean="0"/>
              <a:t>The </a:t>
            </a:r>
            <a:r>
              <a:rPr lang="en-US" dirty="0"/>
              <a:t>Three </a:t>
            </a:r>
            <a:r>
              <a:rPr lang="en-US" dirty="0" smtClean="0"/>
              <a:t>Ps</a:t>
            </a:r>
            <a:endParaRPr lang="en-US" dirty="0"/>
          </a:p>
          <a:p>
            <a:r>
              <a:rPr lang="en-US" dirty="0"/>
              <a:t>One ACL per </a:t>
            </a:r>
            <a:r>
              <a:rPr lang="en-US" dirty="0" smtClean="0"/>
              <a:t>protocol - To </a:t>
            </a:r>
            <a:r>
              <a:rPr lang="en-US" dirty="0"/>
              <a:t>control traffic flow on an interface, an ACL must be defined for each protocol enabled on the interface</a:t>
            </a:r>
            <a:r>
              <a:rPr lang="en-US" dirty="0" smtClean="0"/>
              <a:t>.</a:t>
            </a:r>
          </a:p>
          <a:p>
            <a:pPr marL="0" indent="0">
              <a:buNone/>
            </a:pPr>
            <a:endParaRPr lang="en-US" dirty="0"/>
          </a:p>
          <a:p>
            <a:r>
              <a:rPr lang="en-US" dirty="0"/>
              <a:t>One ACL per </a:t>
            </a:r>
            <a:r>
              <a:rPr lang="en-US" dirty="0" smtClean="0"/>
              <a:t>direction - ACLs </a:t>
            </a:r>
            <a:r>
              <a:rPr lang="en-US" dirty="0"/>
              <a:t>control traffic in one direction at a time on an interface. Two separate ACLs must be created to control inbound and outbound traffic</a:t>
            </a:r>
            <a:r>
              <a:rPr lang="en-US" dirty="0" smtClean="0"/>
              <a:t>.</a:t>
            </a:r>
          </a:p>
          <a:p>
            <a:pPr marL="0" indent="0">
              <a:buNone/>
            </a:pPr>
            <a:endParaRPr lang="en-US" dirty="0"/>
          </a:p>
          <a:p>
            <a:r>
              <a:rPr lang="en-US" dirty="0"/>
              <a:t>One ACL per </a:t>
            </a:r>
            <a:r>
              <a:rPr lang="en-US" dirty="0" smtClean="0"/>
              <a:t>interface - ACLs </a:t>
            </a:r>
            <a:r>
              <a:rPr lang="en-US" dirty="0"/>
              <a:t>control traffic for an interface, for example, </a:t>
            </a:r>
            <a:r>
              <a:rPr lang="en-US" dirty="0" err="1"/>
              <a:t>GigabitEthernet</a:t>
            </a:r>
            <a:r>
              <a:rPr lang="en-US" dirty="0"/>
              <a:t> 0/0.</a:t>
            </a:r>
            <a:endParaRPr lang="en-US" dirty="0" smtClean="0"/>
          </a:p>
        </p:txBody>
      </p:sp>
    </p:spTree>
    <p:extLst>
      <p:ext uri="{BB962C8B-B14F-4D97-AF65-F5344CB8AC3E}">
        <p14:creationId xmlns:p14="http://schemas.microsoft.com/office/powerpoint/2010/main" val="3025136870"/>
      </p:ext>
    </p:extLst>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normAutofit/>
          </a:bodyPr>
          <a:lstStyle/>
          <a:p>
            <a:pPr eaLnBrk="1" hangingPunct="1">
              <a:defRPr/>
            </a:pPr>
            <a:r>
              <a:rPr lang="en-US" dirty="0" smtClean="0"/>
              <a:t>Where </a:t>
            </a:r>
            <a:r>
              <a:rPr lang="en-US" dirty="0"/>
              <a:t>to Place ACLs</a:t>
            </a:r>
            <a:endParaRPr lang="en-US" dirty="0" smtClean="0">
              <a:solidFill>
                <a:schemeClr val="accent5">
                  <a:lumMod val="75000"/>
                </a:schemeClr>
              </a:solidFill>
              <a:cs typeface="Arial" pitchFamily="34" charset="0"/>
            </a:endParaRPr>
          </a:p>
        </p:txBody>
      </p:sp>
      <p:sp>
        <p:nvSpPr>
          <p:cNvPr id="38915" name="Content Placeholder 5"/>
          <p:cNvSpPr>
            <a:spLocks noGrp="1"/>
          </p:cNvSpPr>
          <p:nvPr>
            <p:ph idx="1"/>
          </p:nvPr>
        </p:nvSpPr>
        <p:spPr>
          <a:xfrm>
            <a:off x="395543" y="1662811"/>
            <a:ext cx="6944042" cy="4386263"/>
          </a:xfrm>
        </p:spPr>
        <p:txBody>
          <a:bodyPr/>
          <a:lstStyle/>
          <a:p>
            <a:pPr marL="0" indent="0">
              <a:buNone/>
            </a:pPr>
            <a:r>
              <a:rPr lang="en-US" dirty="0"/>
              <a:t>Every ACL should be placed where it has the greatest impact on </a:t>
            </a:r>
            <a:r>
              <a:rPr lang="en-US" dirty="0" smtClean="0"/>
              <a:t>efficiency. The basic </a:t>
            </a:r>
            <a:r>
              <a:rPr lang="en-US" dirty="0"/>
              <a:t>rules are</a:t>
            </a:r>
            <a:r>
              <a:rPr lang="en-US" dirty="0" smtClean="0"/>
              <a:t>:</a:t>
            </a:r>
          </a:p>
          <a:p>
            <a:pPr marL="0" indent="0">
              <a:buNone/>
            </a:pPr>
            <a:endParaRPr lang="en-US" dirty="0"/>
          </a:p>
          <a:p>
            <a:r>
              <a:rPr lang="en-US" dirty="0"/>
              <a:t>Extended </a:t>
            </a:r>
            <a:r>
              <a:rPr lang="en-US" dirty="0" smtClean="0"/>
              <a:t>ACLs - </a:t>
            </a:r>
            <a:r>
              <a:rPr lang="en-US" dirty="0"/>
              <a:t>Locate extended ACLs as close as possible to the source of the traffic to be filtered. </a:t>
            </a:r>
          </a:p>
          <a:p>
            <a:r>
              <a:rPr lang="en-US" dirty="0"/>
              <a:t>Standard </a:t>
            </a:r>
            <a:r>
              <a:rPr lang="en-US" dirty="0" smtClean="0"/>
              <a:t>ACLs - </a:t>
            </a:r>
            <a:r>
              <a:rPr lang="en-US" dirty="0"/>
              <a:t>Because standard ACLs do not specify destination addresses, place them as close to the destination as </a:t>
            </a:r>
            <a:r>
              <a:rPr lang="en-US" dirty="0" smtClean="0"/>
              <a:t>possible.</a:t>
            </a:r>
          </a:p>
          <a:p>
            <a:pPr marL="0" indent="0">
              <a:buNone/>
            </a:pPr>
            <a:endParaRPr lang="en-US" dirty="0" smtClean="0"/>
          </a:p>
        </p:txBody>
      </p:sp>
    </p:spTree>
    <p:extLst>
      <p:ext uri="{BB962C8B-B14F-4D97-AF65-F5344CB8AC3E}">
        <p14:creationId xmlns:p14="http://schemas.microsoft.com/office/powerpoint/2010/main" val="3024005002"/>
      </p:ext>
    </p:extLst>
  </p:cSld>
  <p:clrMapOvr>
    <a:masterClrMapping/>
  </p:clrMapOvr>
  <p:transition spd="med">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normAutofit/>
          </a:bodyPr>
          <a:lstStyle/>
          <a:p>
            <a:pPr eaLnBrk="1" hangingPunct="1">
              <a:defRPr/>
            </a:pPr>
            <a:r>
              <a:rPr lang="en-US" dirty="0" smtClean="0"/>
              <a:t>Entering </a:t>
            </a:r>
            <a:r>
              <a:rPr lang="en-US" dirty="0"/>
              <a:t>Criteria Statements</a:t>
            </a:r>
            <a:endParaRPr lang="en-US" dirty="0" smtClean="0">
              <a:solidFill>
                <a:schemeClr val="accent5">
                  <a:lumMod val="75000"/>
                </a:schemeClr>
              </a:solidFill>
              <a:cs typeface="Arial" pitchFamily="34" charset="0"/>
            </a:endParaRPr>
          </a:p>
        </p:txBody>
      </p:sp>
      <p:pic>
        <p:nvPicPr>
          <p:cNvPr id="4" name="Content Placeholder 3"/>
          <p:cNvPicPr>
            <a:picLocks noGrp="1" noChangeAspect="1"/>
          </p:cNvPicPr>
          <p:nvPr>
            <p:ph idx="1"/>
          </p:nvPr>
        </p:nvPicPr>
        <p:blipFill>
          <a:blip r:embed="rId3" cstate="print"/>
          <a:srcRect l="-24871" r="-24871"/>
          <a:stretch>
            <a:fillRect/>
          </a:stretch>
        </p:blipFill>
        <p:spPr>
          <a:xfrm>
            <a:off x="298007" y="1540891"/>
            <a:ext cx="7382954" cy="4386263"/>
          </a:xfrm>
        </p:spPr>
      </p:pic>
    </p:spTree>
    <p:extLst>
      <p:ext uri="{BB962C8B-B14F-4D97-AF65-F5344CB8AC3E}">
        <p14:creationId xmlns:p14="http://schemas.microsoft.com/office/powerpoint/2010/main" val="2596599313"/>
      </p:ext>
    </p:extLst>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normAutofit/>
          </a:bodyPr>
          <a:lstStyle/>
          <a:p>
            <a:pPr eaLnBrk="1" hangingPunct="1">
              <a:defRPr/>
            </a:pPr>
            <a:r>
              <a:rPr lang="en-US" dirty="0" smtClean="0"/>
              <a:t>Internal </a:t>
            </a:r>
            <a:r>
              <a:rPr lang="en-US" dirty="0"/>
              <a:t>Logic</a:t>
            </a:r>
            <a:endParaRPr lang="en-US" dirty="0" smtClean="0">
              <a:solidFill>
                <a:schemeClr val="accent5">
                  <a:lumMod val="75000"/>
                </a:schemeClr>
              </a:solidFill>
              <a:cs typeface="Arial" pitchFamily="34" charset="0"/>
            </a:endParaRPr>
          </a:p>
        </p:txBody>
      </p:sp>
      <p:sp>
        <p:nvSpPr>
          <p:cNvPr id="38915" name="Content Placeholder 5"/>
          <p:cNvSpPr>
            <a:spLocks noGrp="1"/>
          </p:cNvSpPr>
          <p:nvPr>
            <p:ph idx="1"/>
          </p:nvPr>
        </p:nvSpPr>
        <p:spPr>
          <a:xfrm>
            <a:off x="554038" y="1565276"/>
            <a:ext cx="7940675" cy="3137354"/>
          </a:xfrm>
        </p:spPr>
        <p:txBody>
          <a:bodyPr/>
          <a:lstStyle/>
          <a:p>
            <a:r>
              <a:rPr lang="en-US" dirty="0" smtClean="0"/>
              <a:t>Rule 1</a:t>
            </a:r>
          </a:p>
          <a:p>
            <a:pPr lvl="1"/>
            <a:r>
              <a:rPr lang="en-US" dirty="0" smtClean="0"/>
              <a:t>You can not deny something you have all ready permitted</a:t>
            </a:r>
          </a:p>
          <a:p>
            <a:r>
              <a:rPr lang="en-US" dirty="0" smtClean="0"/>
              <a:t>Rule 2</a:t>
            </a:r>
          </a:p>
          <a:p>
            <a:pPr lvl="1"/>
            <a:r>
              <a:rPr lang="en-US" dirty="0" smtClean="0"/>
              <a:t>You can not  permit something you have all ready denied</a:t>
            </a:r>
          </a:p>
          <a:p>
            <a:r>
              <a:rPr lang="en-US" dirty="0" smtClean="0"/>
              <a:t>Rule 3</a:t>
            </a:r>
          </a:p>
          <a:p>
            <a:pPr lvl="1"/>
            <a:r>
              <a:rPr lang="en-US" dirty="0" smtClean="0"/>
              <a:t>If nothing is permitted nothing will pass</a:t>
            </a:r>
          </a:p>
          <a:p>
            <a:r>
              <a:rPr lang="en-US" dirty="0" smtClean="0"/>
              <a:t>Rule 4</a:t>
            </a:r>
          </a:p>
          <a:p>
            <a:pPr lvl="1"/>
            <a:r>
              <a:rPr lang="en-US" dirty="0" smtClean="0"/>
              <a:t>The best ACL in the world does nothing if it is not applied</a:t>
            </a:r>
          </a:p>
          <a:p>
            <a:pPr lvl="1"/>
            <a:endParaRPr lang="en-US" dirty="0" smtClean="0"/>
          </a:p>
        </p:txBody>
      </p:sp>
    </p:spTree>
    <p:extLst>
      <p:ext uri="{BB962C8B-B14F-4D97-AF65-F5344CB8AC3E}">
        <p14:creationId xmlns:p14="http://schemas.microsoft.com/office/powerpoint/2010/main" val="4108161982"/>
      </p:ext>
    </p:extLst>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00685" y="236093"/>
            <a:ext cx="8456613" cy="871538"/>
          </a:xfrm>
        </p:spPr>
        <p:txBody>
          <a:bodyPr>
            <a:normAutofit fontScale="90000"/>
          </a:bodyPr>
          <a:lstStyle/>
          <a:p>
            <a:pPr eaLnBrk="1" hangingPunct="1">
              <a:defRPr/>
            </a:pPr>
            <a:r>
              <a:rPr lang="en-US" dirty="0" smtClean="0"/>
              <a:t/>
            </a:r>
            <a:br>
              <a:rPr lang="en-US" dirty="0" smtClean="0"/>
            </a:br>
            <a:r>
              <a:rPr lang="en-US" sz="3000" dirty="0"/>
              <a:t>Applying Standard ACLs to </a:t>
            </a:r>
            <a:r>
              <a:rPr lang="en-US" sz="3000" dirty="0" smtClean="0"/>
              <a:t>Interfaces</a:t>
            </a:r>
            <a:endParaRPr lang="en-US" sz="3000" dirty="0" smtClean="0">
              <a:solidFill>
                <a:schemeClr val="accent5">
                  <a:lumMod val="75000"/>
                </a:schemeClr>
              </a:solidFill>
              <a:cs typeface="Arial" pitchFamily="34" charset="0"/>
            </a:endParaRPr>
          </a:p>
        </p:txBody>
      </p:sp>
      <p:pic>
        <p:nvPicPr>
          <p:cNvPr id="2" name="Content Placeholder 1"/>
          <p:cNvPicPr>
            <a:picLocks noGrp="1" noChangeAspect="1"/>
          </p:cNvPicPr>
          <p:nvPr>
            <p:ph idx="1"/>
          </p:nvPr>
        </p:nvPicPr>
        <p:blipFill rotWithShape="1">
          <a:blip r:embed="rId3" cstate="print"/>
          <a:srcRect l="-27533" r="837"/>
          <a:stretch/>
        </p:blipFill>
        <p:spPr>
          <a:xfrm>
            <a:off x="0" y="1443355"/>
            <a:ext cx="6487948" cy="4386263"/>
          </a:xfrm>
        </p:spPr>
      </p:pic>
    </p:spTree>
    <p:extLst>
      <p:ext uri="{BB962C8B-B14F-4D97-AF65-F5344CB8AC3E}">
        <p14:creationId xmlns:p14="http://schemas.microsoft.com/office/powerpoint/2010/main" val="3501279812"/>
      </p:ext>
    </p:extLst>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normAutofit/>
          </a:bodyPr>
          <a:lstStyle/>
          <a:p>
            <a:pPr eaLnBrk="1" hangingPunct="1">
              <a:defRPr/>
            </a:pPr>
            <a:r>
              <a:rPr lang="en-US" dirty="0" smtClean="0"/>
              <a:t>Creating </a:t>
            </a:r>
            <a:r>
              <a:rPr lang="en-US" dirty="0"/>
              <a:t>Named Standard ACLs</a:t>
            </a:r>
            <a:endParaRPr lang="en-US" dirty="0" smtClean="0">
              <a:solidFill>
                <a:schemeClr val="accent5">
                  <a:lumMod val="75000"/>
                </a:schemeClr>
              </a:solidFill>
              <a:cs typeface="Arial" pitchFamily="34" charset="0"/>
            </a:endParaRPr>
          </a:p>
        </p:txBody>
      </p:sp>
      <p:pic>
        <p:nvPicPr>
          <p:cNvPr id="2" name="Content Placeholder 1"/>
          <p:cNvPicPr>
            <a:picLocks noGrp="1" noChangeAspect="1"/>
          </p:cNvPicPr>
          <p:nvPr>
            <p:ph idx="1"/>
          </p:nvPr>
        </p:nvPicPr>
        <p:blipFill>
          <a:blip r:embed="rId3" cstate="print"/>
          <a:srcRect l="-12277" r="-12277"/>
          <a:stretch>
            <a:fillRect/>
          </a:stretch>
        </p:blipFill>
        <p:spPr>
          <a:xfrm>
            <a:off x="-214058" y="1455547"/>
            <a:ext cx="7940675" cy="4386263"/>
          </a:xfrm>
        </p:spPr>
      </p:pic>
    </p:spTree>
    <p:extLst>
      <p:ext uri="{BB962C8B-B14F-4D97-AF65-F5344CB8AC3E}">
        <p14:creationId xmlns:p14="http://schemas.microsoft.com/office/powerpoint/2010/main" val="1887727648"/>
      </p:ext>
    </p:extLst>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9997" y="443357"/>
            <a:ext cx="8023987" cy="871538"/>
          </a:xfrm>
        </p:spPr>
        <p:txBody>
          <a:bodyPr>
            <a:normAutofit/>
          </a:bodyPr>
          <a:lstStyle/>
          <a:p>
            <a:pPr eaLnBrk="1" hangingPunct="1">
              <a:defRPr/>
            </a:pPr>
            <a:r>
              <a:rPr lang="en-US" dirty="0" smtClean="0"/>
              <a:t>Editing Standard </a:t>
            </a:r>
            <a:r>
              <a:rPr lang="en-US" dirty="0"/>
              <a:t>Numbered ACLs</a:t>
            </a:r>
            <a:endParaRPr lang="en-US" dirty="0" smtClean="0">
              <a:solidFill>
                <a:schemeClr val="accent5">
                  <a:lumMod val="75000"/>
                </a:schemeClr>
              </a:solidFill>
              <a:cs typeface="Arial" pitchFamily="34" charset="0"/>
            </a:endParaRPr>
          </a:p>
        </p:txBody>
      </p:sp>
      <p:pic>
        <p:nvPicPr>
          <p:cNvPr id="2" name="Content Placeholder 1"/>
          <p:cNvPicPr>
            <a:picLocks noGrp="1" noChangeAspect="1"/>
          </p:cNvPicPr>
          <p:nvPr>
            <p:ph idx="1"/>
          </p:nvPr>
        </p:nvPicPr>
        <p:blipFill>
          <a:blip r:embed="rId3" cstate="print"/>
          <a:srcRect l="-26468" r="-26468"/>
          <a:stretch>
            <a:fillRect/>
          </a:stretch>
        </p:blipFill>
        <p:spPr>
          <a:xfrm>
            <a:off x="-884618" y="1272667"/>
            <a:ext cx="8626538" cy="4664837"/>
          </a:xfrm>
        </p:spPr>
      </p:pic>
    </p:spTree>
    <p:extLst>
      <p:ext uri="{BB962C8B-B14F-4D97-AF65-F5344CB8AC3E}">
        <p14:creationId xmlns:p14="http://schemas.microsoft.com/office/powerpoint/2010/main" val="1016731259"/>
      </p:ext>
    </p:extLst>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32461" y="492125"/>
            <a:ext cx="7073011" cy="871538"/>
          </a:xfrm>
        </p:spPr>
        <p:txBody>
          <a:bodyPr>
            <a:normAutofit/>
          </a:bodyPr>
          <a:lstStyle/>
          <a:p>
            <a:pPr eaLnBrk="1" hangingPunct="1">
              <a:defRPr/>
            </a:pPr>
            <a:r>
              <a:rPr lang="en-US" dirty="0" smtClean="0"/>
              <a:t>Editing </a:t>
            </a:r>
            <a:r>
              <a:rPr lang="en-US" dirty="0"/>
              <a:t>Standard Numbered </a:t>
            </a:r>
            <a:r>
              <a:rPr lang="en-US" dirty="0" smtClean="0"/>
              <a:t>ACLs</a:t>
            </a:r>
            <a:endParaRPr lang="en-US" dirty="0" smtClean="0">
              <a:solidFill>
                <a:schemeClr val="accent5">
                  <a:lumMod val="75000"/>
                </a:schemeClr>
              </a:solidFill>
              <a:cs typeface="Arial" pitchFamily="34" charset="0"/>
            </a:endParaRPr>
          </a:p>
        </p:txBody>
      </p:sp>
      <p:pic>
        <p:nvPicPr>
          <p:cNvPr id="2" name="Content Placeholder 1"/>
          <p:cNvPicPr>
            <a:picLocks noGrp="1" noChangeAspect="1"/>
          </p:cNvPicPr>
          <p:nvPr>
            <p:ph idx="1"/>
          </p:nvPr>
        </p:nvPicPr>
        <p:blipFill>
          <a:blip r:embed="rId3" cstate="print"/>
          <a:srcRect l="-25567" r="-25567"/>
          <a:stretch>
            <a:fillRect/>
          </a:stretch>
        </p:blipFill>
        <p:spPr>
          <a:xfrm>
            <a:off x="-799274" y="1382395"/>
            <a:ext cx="8346122" cy="4677029"/>
          </a:xfrm>
        </p:spPr>
      </p:pic>
    </p:spTree>
    <p:extLst>
      <p:ext uri="{BB962C8B-B14F-4D97-AF65-F5344CB8AC3E}">
        <p14:creationId xmlns:p14="http://schemas.microsoft.com/office/powerpoint/2010/main" val="976392474"/>
      </p:ext>
    </p:extLst>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normAutofit/>
          </a:bodyPr>
          <a:lstStyle/>
          <a:p>
            <a:pPr eaLnBrk="1" hangingPunct="1">
              <a:defRPr/>
            </a:pPr>
            <a:r>
              <a:rPr lang="en-US" dirty="0" smtClean="0"/>
              <a:t>Editing </a:t>
            </a:r>
            <a:r>
              <a:rPr lang="en-US" dirty="0"/>
              <a:t>Standard Named ACLs</a:t>
            </a:r>
            <a:endParaRPr lang="en-US" dirty="0" smtClean="0">
              <a:solidFill>
                <a:schemeClr val="accent5">
                  <a:lumMod val="75000"/>
                </a:schemeClr>
              </a:solidFill>
              <a:cs typeface="Arial" pitchFamily="34" charset="0"/>
            </a:endParaRPr>
          </a:p>
        </p:txBody>
      </p:sp>
      <p:pic>
        <p:nvPicPr>
          <p:cNvPr id="2" name="Content Placeholder 1"/>
          <p:cNvPicPr>
            <a:picLocks noGrp="1" noChangeAspect="1"/>
          </p:cNvPicPr>
          <p:nvPr>
            <p:ph idx="1"/>
          </p:nvPr>
        </p:nvPicPr>
        <p:blipFill>
          <a:blip r:embed="rId3" cstate="print"/>
          <a:srcRect l="-21212" r="-21212"/>
          <a:stretch>
            <a:fillRect/>
          </a:stretch>
        </p:blipFill>
        <p:spPr>
          <a:xfrm>
            <a:off x="0" y="1333627"/>
            <a:ext cx="7940675" cy="4386263"/>
          </a:xfrm>
        </p:spPr>
      </p:pic>
    </p:spTree>
    <p:extLst>
      <p:ext uri="{BB962C8B-B14F-4D97-AF65-F5344CB8AC3E}">
        <p14:creationId xmlns:p14="http://schemas.microsoft.com/office/powerpoint/2010/main" val="1449098399"/>
      </p:ext>
    </p:extLst>
  </p:cSld>
  <p:clrMapOvr>
    <a:masterClrMapping/>
  </p:clrMapOvr>
  <p:transition spd="med">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normAutofit/>
          </a:bodyPr>
          <a:lstStyle/>
          <a:p>
            <a:pPr eaLnBrk="1" hangingPunct="1">
              <a:defRPr/>
            </a:pPr>
            <a:r>
              <a:rPr lang="en-US" dirty="0" smtClean="0"/>
              <a:t>Verifying </a:t>
            </a:r>
            <a:r>
              <a:rPr lang="en-US" dirty="0"/>
              <a:t>ACLs</a:t>
            </a:r>
            <a:endParaRPr lang="en-US" dirty="0" smtClean="0">
              <a:solidFill>
                <a:schemeClr val="accent5">
                  <a:lumMod val="75000"/>
                </a:schemeClr>
              </a:solidFill>
              <a:cs typeface="Arial" pitchFamily="34" charset="0"/>
            </a:endParaRPr>
          </a:p>
        </p:txBody>
      </p:sp>
      <p:pic>
        <p:nvPicPr>
          <p:cNvPr id="2" name="Content Placeholder 1"/>
          <p:cNvPicPr>
            <a:picLocks noGrp="1" noChangeAspect="1"/>
          </p:cNvPicPr>
          <p:nvPr>
            <p:ph idx="1"/>
          </p:nvPr>
        </p:nvPicPr>
        <p:blipFill>
          <a:blip r:embed="rId3" cstate="print"/>
          <a:srcRect l="1260" r="1260"/>
          <a:stretch>
            <a:fillRect/>
          </a:stretch>
        </p:blipFill>
        <p:spPr>
          <a:xfrm>
            <a:off x="1061523" y="1230952"/>
            <a:ext cx="4924749" cy="2720328"/>
          </a:xfrm>
        </p:spPr>
      </p:pic>
      <p:pic>
        <p:nvPicPr>
          <p:cNvPr id="3" name="Picture 2"/>
          <p:cNvPicPr>
            <a:picLocks noChangeAspect="1"/>
          </p:cNvPicPr>
          <p:nvPr/>
        </p:nvPicPr>
        <p:blipFill>
          <a:blip r:embed="rId4" cstate="print"/>
          <a:stretch>
            <a:fillRect/>
          </a:stretch>
        </p:blipFill>
        <p:spPr>
          <a:xfrm>
            <a:off x="1072505" y="4322908"/>
            <a:ext cx="5035687" cy="1794008"/>
          </a:xfrm>
          <a:prstGeom prst="rect">
            <a:avLst/>
          </a:prstGeom>
        </p:spPr>
      </p:pic>
    </p:spTree>
    <p:extLst>
      <p:ext uri="{BB962C8B-B14F-4D97-AF65-F5344CB8AC3E}">
        <p14:creationId xmlns:p14="http://schemas.microsoft.com/office/powerpoint/2010/main" val="3884339032"/>
      </p:ext>
    </p:extLst>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normAutofit/>
          </a:bodyPr>
          <a:lstStyle/>
          <a:p>
            <a:pPr eaLnBrk="1" hangingPunct="1">
              <a:defRPr/>
            </a:pPr>
            <a:r>
              <a:rPr lang="en-US" dirty="0" smtClean="0"/>
              <a:t>ACL </a:t>
            </a:r>
            <a:r>
              <a:rPr lang="en-US" dirty="0"/>
              <a:t>Statistics</a:t>
            </a:r>
            <a:endParaRPr lang="en-US" dirty="0" smtClean="0">
              <a:solidFill>
                <a:schemeClr val="accent5">
                  <a:lumMod val="75000"/>
                </a:schemeClr>
              </a:solidFill>
              <a:cs typeface="Arial" pitchFamily="34" charset="0"/>
            </a:endParaRPr>
          </a:p>
        </p:txBody>
      </p:sp>
      <p:pic>
        <p:nvPicPr>
          <p:cNvPr id="2" name="Content Placeholder 1"/>
          <p:cNvPicPr>
            <a:picLocks noGrp="1" noChangeAspect="1"/>
          </p:cNvPicPr>
          <p:nvPr>
            <p:ph idx="1"/>
          </p:nvPr>
        </p:nvPicPr>
        <p:blipFill>
          <a:blip r:embed="rId3" cstate="print"/>
          <a:srcRect l="-19945" r="-19945"/>
          <a:stretch>
            <a:fillRect/>
          </a:stretch>
        </p:blipFill>
        <p:spPr>
          <a:xfrm>
            <a:off x="-384746" y="1479931"/>
            <a:ext cx="7940675" cy="4386263"/>
          </a:xfrm>
        </p:spPr>
      </p:pic>
    </p:spTree>
    <p:extLst>
      <p:ext uri="{BB962C8B-B14F-4D97-AF65-F5344CB8AC3E}">
        <p14:creationId xmlns:p14="http://schemas.microsoft.com/office/powerpoint/2010/main" val="4160845146"/>
      </p:ext>
    </p:extLst>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normAutofit/>
          </a:bodyPr>
          <a:lstStyle/>
          <a:p>
            <a:pPr eaLnBrk="1" hangingPunct="1">
              <a:defRPr/>
            </a:pPr>
            <a:r>
              <a:rPr lang="en-US" dirty="0" smtClean="0"/>
              <a:t>ACL </a:t>
            </a:r>
            <a:r>
              <a:rPr lang="en-US" dirty="0"/>
              <a:t>Statistics</a:t>
            </a:r>
            <a:endParaRPr lang="en-US" dirty="0" smtClean="0">
              <a:solidFill>
                <a:schemeClr val="accent5">
                  <a:lumMod val="75000"/>
                </a:schemeClr>
              </a:solidFill>
              <a:cs typeface="Arial" pitchFamily="34" charset="0"/>
            </a:endParaRPr>
          </a:p>
        </p:txBody>
      </p:sp>
      <p:sp>
        <p:nvSpPr>
          <p:cNvPr id="4" name="Content Placeholder 3"/>
          <p:cNvSpPr>
            <a:spLocks noGrp="1"/>
          </p:cNvSpPr>
          <p:nvPr>
            <p:ph idx="1"/>
          </p:nvPr>
        </p:nvSpPr>
        <p:spPr>
          <a:xfrm>
            <a:off x="655638" y="1611086"/>
            <a:ext cx="7940675" cy="4731657"/>
          </a:xfrm>
        </p:spPr>
        <p:txBody>
          <a:bodyPr/>
          <a:lstStyle/>
          <a:p>
            <a:pPr>
              <a:buNone/>
            </a:pPr>
            <a:r>
              <a:rPr lang="en-US" dirty="0" err="1" smtClean="0"/>
              <a:t>ip</a:t>
            </a:r>
            <a:r>
              <a:rPr lang="en-US" dirty="0" smtClean="0"/>
              <a:t> access-list  TRAFFIC_USE</a:t>
            </a:r>
          </a:p>
          <a:p>
            <a:pPr>
              <a:buNone/>
            </a:pPr>
            <a:r>
              <a:rPr lang="en-US" dirty="0" smtClean="0"/>
              <a:t>10 permit </a:t>
            </a:r>
            <a:r>
              <a:rPr lang="en-US" dirty="0" err="1" smtClean="0"/>
              <a:t>tcp</a:t>
            </a:r>
            <a:r>
              <a:rPr lang="en-US" dirty="0" smtClean="0"/>
              <a:t> any </a:t>
            </a:r>
            <a:r>
              <a:rPr lang="en-US" dirty="0" err="1" smtClean="0"/>
              <a:t>any</a:t>
            </a:r>
            <a:r>
              <a:rPr lang="en-US" dirty="0" smtClean="0"/>
              <a:t> </a:t>
            </a:r>
            <a:r>
              <a:rPr lang="en-US" dirty="0" err="1" smtClean="0"/>
              <a:t>eq</a:t>
            </a:r>
            <a:r>
              <a:rPr lang="en-US" dirty="0" smtClean="0"/>
              <a:t> 80</a:t>
            </a:r>
          </a:p>
          <a:p>
            <a:pPr>
              <a:buNone/>
            </a:pPr>
            <a:r>
              <a:rPr lang="en-US" dirty="0" smtClean="0"/>
              <a:t>20 permit </a:t>
            </a:r>
            <a:r>
              <a:rPr lang="en-US" dirty="0" err="1" smtClean="0"/>
              <a:t>tcp</a:t>
            </a:r>
            <a:r>
              <a:rPr lang="en-US" dirty="0" smtClean="0"/>
              <a:t> any </a:t>
            </a:r>
            <a:r>
              <a:rPr lang="en-US" dirty="0" err="1" smtClean="0"/>
              <a:t>any</a:t>
            </a:r>
            <a:r>
              <a:rPr lang="en-US" dirty="0" smtClean="0"/>
              <a:t> </a:t>
            </a:r>
            <a:r>
              <a:rPr lang="en-US" dirty="0" err="1" smtClean="0"/>
              <a:t>eq</a:t>
            </a:r>
            <a:r>
              <a:rPr lang="en-US" dirty="0" smtClean="0"/>
              <a:t> 20</a:t>
            </a:r>
          </a:p>
          <a:p>
            <a:pPr>
              <a:buNone/>
            </a:pPr>
            <a:r>
              <a:rPr lang="en-US" dirty="0" smtClean="0"/>
              <a:t>30 permit </a:t>
            </a:r>
            <a:r>
              <a:rPr lang="en-US" dirty="0" err="1" smtClean="0"/>
              <a:t>tcp</a:t>
            </a:r>
            <a:r>
              <a:rPr lang="en-US" dirty="0" smtClean="0"/>
              <a:t> any </a:t>
            </a:r>
            <a:r>
              <a:rPr lang="en-US" dirty="0" err="1" smtClean="0"/>
              <a:t>any</a:t>
            </a:r>
            <a:r>
              <a:rPr lang="en-US" dirty="0" smtClean="0"/>
              <a:t> </a:t>
            </a:r>
            <a:r>
              <a:rPr lang="en-US" dirty="0" err="1" smtClean="0"/>
              <a:t>eq</a:t>
            </a:r>
            <a:r>
              <a:rPr lang="en-US" dirty="0" smtClean="0"/>
              <a:t> 21</a:t>
            </a:r>
          </a:p>
          <a:p>
            <a:pPr>
              <a:buNone/>
            </a:pPr>
            <a:r>
              <a:rPr lang="en-US" dirty="0" smtClean="0"/>
              <a:t>40 permit </a:t>
            </a:r>
            <a:r>
              <a:rPr lang="en-US" dirty="0" err="1" smtClean="0"/>
              <a:t>tcp</a:t>
            </a:r>
            <a:r>
              <a:rPr lang="en-US" dirty="0" smtClean="0"/>
              <a:t> any </a:t>
            </a:r>
            <a:r>
              <a:rPr lang="en-US" dirty="0" err="1" smtClean="0"/>
              <a:t>any</a:t>
            </a:r>
            <a:r>
              <a:rPr lang="en-US" dirty="0" smtClean="0"/>
              <a:t> </a:t>
            </a:r>
            <a:r>
              <a:rPr lang="en-US" dirty="0" err="1" smtClean="0"/>
              <a:t>eq</a:t>
            </a:r>
            <a:r>
              <a:rPr lang="en-US" dirty="0" smtClean="0"/>
              <a:t> 23</a:t>
            </a:r>
          </a:p>
          <a:p>
            <a:pPr>
              <a:buNone/>
            </a:pPr>
            <a:r>
              <a:rPr lang="en-US" dirty="0" smtClean="0"/>
              <a:t>50 permit </a:t>
            </a:r>
            <a:r>
              <a:rPr lang="en-US" dirty="0" err="1" smtClean="0"/>
              <a:t>udp</a:t>
            </a:r>
            <a:r>
              <a:rPr lang="en-US" dirty="0" smtClean="0"/>
              <a:t> any </a:t>
            </a:r>
            <a:r>
              <a:rPr lang="en-US" dirty="0" err="1" smtClean="0"/>
              <a:t>any</a:t>
            </a:r>
            <a:r>
              <a:rPr lang="en-US" dirty="0" smtClean="0"/>
              <a:t> </a:t>
            </a:r>
            <a:r>
              <a:rPr lang="en-US" dirty="0" err="1" smtClean="0"/>
              <a:t>eq</a:t>
            </a:r>
            <a:r>
              <a:rPr lang="en-US" dirty="0" smtClean="0"/>
              <a:t> 67</a:t>
            </a:r>
          </a:p>
          <a:p>
            <a:pPr>
              <a:buNone/>
            </a:pPr>
            <a:r>
              <a:rPr lang="en-US" dirty="0" smtClean="0"/>
              <a:t>60 permit </a:t>
            </a:r>
            <a:r>
              <a:rPr lang="en-US" dirty="0" err="1" smtClean="0"/>
              <a:t>udp</a:t>
            </a:r>
            <a:r>
              <a:rPr lang="en-US" dirty="0" smtClean="0"/>
              <a:t> any </a:t>
            </a:r>
            <a:r>
              <a:rPr lang="en-US" dirty="0" err="1" smtClean="0"/>
              <a:t>any</a:t>
            </a:r>
            <a:r>
              <a:rPr lang="en-US" dirty="0" smtClean="0"/>
              <a:t> </a:t>
            </a:r>
            <a:r>
              <a:rPr lang="en-US" dirty="0" err="1" smtClean="0"/>
              <a:t>eq</a:t>
            </a:r>
            <a:r>
              <a:rPr lang="en-US" dirty="0" smtClean="0"/>
              <a:t> 68</a:t>
            </a:r>
          </a:p>
          <a:p>
            <a:pPr>
              <a:buNone/>
            </a:pPr>
            <a:r>
              <a:rPr lang="en-US" dirty="0" smtClean="0"/>
              <a:t>70 permit </a:t>
            </a:r>
            <a:r>
              <a:rPr lang="en-US" dirty="0" err="1" smtClean="0"/>
              <a:t>ip</a:t>
            </a:r>
            <a:r>
              <a:rPr lang="en-US" dirty="0" smtClean="0"/>
              <a:t> any </a:t>
            </a:r>
            <a:r>
              <a:rPr lang="en-US" dirty="0" err="1" smtClean="0"/>
              <a:t>any</a:t>
            </a:r>
            <a:endParaRPr lang="en-US" dirty="0"/>
          </a:p>
        </p:txBody>
      </p:sp>
    </p:spTree>
    <p:extLst>
      <p:ext uri="{BB962C8B-B14F-4D97-AF65-F5344CB8AC3E}">
        <p14:creationId xmlns:p14="http://schemas.microsoft.com/office/powerpoint/2010/main" val="4160845146"/>
      </p:ext>
    </p:extLst>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normAutofit/>
          </a:bodyPr>
          <a:lstStyle/>
          <a:p>
            <a:pPr eaLnBrk="1" hangingPunct="1">
              <a:defRPr/>
            </a:pPr>
            <a:r>
              <a:rPr lang="en-US" dirty="0" smtClean="0"/>
              <a:t>Extended </a:t>
            </a:r>
            <a:r>
              <a:rPr lang="en-US" dirty="0"/>
              <a:t>ACLs</a:t>
            </a:r>
            <a:endParaRPr lang="en-US" dirty="0" smtClean="0">
              <a:solidFill>
                <a:schemeClr val="accent5">
                  <a:lumMod val="75000"/>
                </a:schemeClr>
              </a:solidFill>
              <a:cs typeface="Arial" pitchFamily="34" charset="0"/>
            </a:endParaRPr>
          </a:p>
        </p:txBody>
      </p:sp>
      <p:pic>
        <p:nvPicPr>
          <p:cNvPr id="2" name="Content Placeholder 1"/>
          <p:cNvPicPr>
            <a:picLocks noGrp="1" noChangeAspect="1"/>
          </p:cNvPicPr>
          <p:nvPr>
            <p:ph idx="1"/>
          </p:nvPr>
        </p:nvPicPr>
        <p:blipFill>
          <a:blip r:embed="rId3" cstate="print"/>
          <a:srcRect l="-5135" r="-5135"/>
          <a:stretch>
            <a:fillRect/>
          </a:stretch>
        </p:blipFill>
        <p:spPr>
          <a:xfrm>
            <a:off x="554039" y="1565275"/>
            <a:ext cx="5858954" cy="4386263"/>
          </a:xfrm>
        </p:spPr>
      </p:pic>
    </p:spTree>
    <p:extLst>
      <p:ext uri="{BB962C8B-B14F-4D97-AF65-F5344CB8AC3E}">
        <p14:creationId xmlns:p14="http://schemas.microsoft.com/office/powerpoint/2010/main" val="1738856326"/>
      </p:ext>
    </p:extLst>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normAutofit/>
          </a:bodyPr>
          <a:lstStyle/>
          <a:p>
            <a:pPr eaLnBrk="1" hangingPunct="1">
              <a:defRPr/>
            </a:pPr>
            <a:r>
              <a:rPr lang="en-US" dirty="0" smtClean="0"/>
              <a:t>Extended ACLs</a:t>
            </a:r>
            <a:endParaRPr lang="en-US" dirty="0" smtClean="0">
              <a:solidFill>
                <a:schemeClr val="accent5">
                  <a:lumMod val="75000"/>
                </a:schemeClr>
              </a:solidFill>
              <a:cs typeface="Arial" pitchFamily="34" charset="0"/>
            </a:endParaRPr>
          </a:p>
        </p:txBody>
      </p:sp>
      <p:pic>
        <p:nvPicPr>
          <p:cNvPr id="2" name="Content Placeholder 1"/>
          <p:cNvPicPr>
            <a:picLocks noGrp="1" noChangeAspect="1"/>
          </p:cNvPicPr>
          <p:nvPr>
            <p:ph idx="1"/>
          </p:nvPr>
        </p:nvPicPr>
        <p:blipFill>
          <a:blip r:embed="rId3" cstate="print"/>
          <a:srcRect t="598" b="598"/>
          <a:stretch>
            <a:fillRect/>
          </a:stretch>
        </p:blipFill>
        <p:spPr>
          <a:xfrm>
            <a:off x="554039" y="1565275"/>
            <a:ext cx="6285674" cy="3665093"/>
          </a:xfrm>
        </p:spPr>
      </p:pic>
    </p:spTree>
    <p:extLst>
      <p:ext uri="{BB962C8B-B14F-4D97-AF65-F5344CB8AC3E}">
        <p14:creationId xmlns:p14="http://schemas.microsoft.com/office/powerpoint/2010/main" val="277160545"/>
      </p:ext>
    </p:extLst>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6731635" cy="871538"/>
          </a:xfrm>
        </p:spPr>
        <p:txBody>
          <a:bodyPr>
            <a:normAutofit fontScale="90000"/>
          </a:bodyPr>
          <a:lstStyle/>
          <a:p>
            <a:pPr eaLnBrk="1" hangingPunct="1">
              <a:defRPr/>
            </a:pPr>
            <a:r>
              <a:rPr lang="en-US" dirty="0" smtClean="0"/>
              <a:t>Applying </a:t>
            </a:r>
            <a:r>
              <a:rPr lang="en-US" dirty="0"/>
              <a:t>Extended ACLs to Interfaces</a:t>
            </a:r>
            <a:endParaRPr lang="en-US" dirty="0" smtClean="0">
              <a:solidFill>
                <a:schemeClr val="accent5">
                  <a:lumMod val="75000"/>
                </a:schemeClr>
              </a:solidFill>
              <a:cs typeface="Arial" pitchFamily="34" charset="0"/>
            </a:endParaRPr>
          </a:p>
        </p:txBody>
      </p:sp>
      <p:pic>
        <p:nvPicPr>
          <p:cNvPr id="2" name="Content Placeholder 1"/>
          <p:cNvPicPr>
            <a:picLocks noGrp="1" noChangeAspect="1"/>
          </p:cNvPicPr>
          <p:nvPr>
            <p:ph idx="1"/>
          </p:nvPr>
        </p:nvPicPr>
        <p:blipFill>
          <a:blip r:embed="rId3" cstate="print"/>
          <a:srcRect l="-20454" r="-20454"/>
          <a:stretch>
            <a:fillRect/>
          </a:stretch>
        </p:blipFill>
        <p:spPr>
          <a:xfrm>
            <a:off x="207264" y="1455547"/>
            <a:ext cx="7060709" cy="4213733"/>
          </a:xfrm>
        </p:spPr>
      </p:pic>
    </p:spTree>
    <p:extLst>
      <p:ext uri="{BB962C8B-B14F-4D97-AF65-F5344CB8AC3E}">
        <p14:creationId xmlns:p14="http://schemas.microsoft.com/office/powerpoint/2010/main" val="2931107212"/>
      </p:ext>
    </p:extLst>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6646291" cy="871538"/>
          </a:xfrm>
        </p:spPr>
        <p:txBody>
          <a:bodyPr>
            <a:normAutofit/>
          </a:bodyPr>
          <a:lstStyle/>
          <a:p>
            <a:pPr eaLnBrk="1" hangingPunct="1">
              <a:defRPr/>
            </a:pPr>
            <a:r>
              <a:rPr lang="en-US" dirty="0" smtClean="0"/>
              <a:t>Creating </a:t>
            </a:r>
            <a:r>
              <a:rPr lang="en-US" dirty="0"/>
              <a:t>Named Extended ACLs</a:t>
            </a:r>
            <a:endParaRPr lang="en-US" dirty="0" smtClean="0">
              <a:solidFill>
                <a:schemeClr val="accent5">
                  <a:lumMod val="75000"/>
                </a:schemeClr>
              </a:solidFill>
              <a:cs typeface="Arial" pitchFamily="34" charset="0"/>
            </a:endParaRPr>
          </a:p>
        </p:txBody>
      </p:sp>
      <p:pic>
        <p:nvPicPr>
          <p:cNvPr id="2" name="Content Placeholder 1"/>
          <p:cNvPicPr>
            <a:picLocks noGrp="1" noChangeAspect="1"/>
          </p:cNvPicPr>
          <p:nvPr>
            <p:ph idx="1"/>
          </p:nvPr>
        </p:nvPicPr>
        <p:blipFill>
          <a:blip r:embed="rId3" cstate="print"/>
          <a:srcRect l="-27389" r="-27389"/>
          <a:stretch>
            <a:fillRect/>
          </a:stretch>
        </p:blipFill>
        <p:spPr>
          <a:xfrm>
            <a:off x="-445706" y="1735963"/>
            <a:ext cx="7940675" cy="4386263"/>
          </a:xfrm>
        </p:spPr>
      </p:pic>
    </p:spTree>
    <p:extLst>
      <p:ext uri="{BB962C8B-B14F-4D97-AF65-F5344CB8AC3E}">
        <p14:creationId xmlns:p14="http://schemas.microsoft.com/office/powerpoint/2010/main" val="887659854"/>
      </p:ext>
    </p:extLst>
  </p:cSld>
  <p:clrMapOvr>
    <a:masterClrMapping/>
  </p:clrMapOvr>
  <p:transition spd="med">
    <p:wipe dir="r"/>
  </p:transition>
  <p:timing>
    <p:tnLst>
      <p:par>
        <p:cTn id="1" dur="indefinite" restart="never" nodeType="tmRoot"/>
      </p:par>
    </p:tnLst>
  </p:timing>
</p:sld>
</file>

<file path=ppt/theme/theme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14168</TotalTime>
  <Pages>28</Pages>
  <Words>360</Words>
  <Application>Microsoft Office PowerPoint</Application>
  <PresentationFormat>On-screen Show (4:3)</PresentationFormat>
  <Paragraphs>83</Paragraphs>
  <Slides>20</Slides>
  <Notes>19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Arial</vt:lpstr>
      <vt:lpstr>Times New Roman</vt:lpstr>
      <vt:lpstr>Trebuchet MS</vt:lpstr>
      <vt:lpstr>Wingdings</vt:lpstr>
      <vt:lpstr>Wingdings 3</vt:lpstr>
      <vt:lpstr>PPT-TMPLT-WHT_C</vt:lpstr>
      <vt:lpstr>Facet</vt:lpstr>
      <vt:lpstr>ACL</vt:lpstr>
      <vt:lpstr>What is an ACL?</vt:lpstr>
      <vt:lpstr>ACL Operation</vt:lpstr>
      <vt:lpstr>Types of Cisco IPv4 ACLs</vt:lpstr>
      <vt:lpstr>General Guidelines for Creating ACLs</vt:lpstr>
      <vt:lpstr>Where to Place ACLs</vt:lpstr>
      <vt:lpstr>Entering Criteria Statements</vt:lpstr>
      <vt:lpstr>Internal Logic</vt:lpstr>
      <vt:lpstr> Applying Standard ACLs to Interfaces</vt:lpstr>
      <vt:lpstr>Creating Named Standard ACLs</vt:lpstr>
      <vt:lpstr>Editing Standard Numbered ACLs</vt:lpstr>
      <vt:lpstr>Editing Standard Numbered ACLs</vt:lpstr>
      <vt:lpstr>Editing Standard Named ACLs</vt:lpstr>
      <vt:lpstr>Verifying ACLs</vt:lpstr>
      <vt:lpstr>ACL Statistics</vt:lpstr>
      <vt:lpstr>ACL Statistics</vt:lpstr>
      <vt:lpstr>Extended ACLs</vt:lpstr>
      <vt:lpstr>Extended ACLs</vt:lpstr>
      <vt:lpstr>Applying Extended ACLs to Interfaces</vt:lpstr>
      <vt:lpstr>Creating Named Extended ACLs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CCNA5.0 Instructor PPT</dc:title>
  <dc:creator>Karen Alderson</dc:creator>
  <cp:lastModifiedBy>Windows User</cp:lastModifiedBy>
  <cp:revision>1029</cp:revision>
  <cp:lastPrinted>1999-01-27T00:54:54Z</cp:lastPrinted>
  <dcterms:created xsi:type="dcterms:W3CDTF">2006-10-23T15:07:30Z</dcterms:created>
  <dcterms:modified xsi:type="dcterms:W3CDTF">2024-05-22T06:50:14Z</dcterms:modified>
</cp:coreProperties>
</file>